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b046bf38b841e0" /><Relationship Type="http://schemas.openxmlformats.org/officeDocument/2006/relationships/extended-properties" Target="/docProps/app.xml" Id="Rd5d86a7a957442ac" /><Relationship Type="http://schemas.openxmlformats.org/officeDocument/2006/relationships/officeDocument" Target="/ppt/presentation.xml" Id="R00940b020b9841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a8da295e2c4ff5"/>
  </p:sldMasterIdLst>
  <p:notesMasterIdLst>
    <p:notesMasterId xmlns:r="http://schemas.openxmlformats.org/officeDocument/2006/relationships" r:id="R04a20b098ef24f28"/>
  </p:notesMasterIdLst>
  <p:sldIdLst>
    <p:sldId xmlns:r="http://schemas.openxmlformats.org/officeDocument/2006/relationships" id="256" r:id="Ra818f998aa784cf8"/>
    <p:sldId xmlns:r="http://schemas.openxmlformats.org/officeDocument/2006/relationships" id="257" r:id="Reab247fce4ac46d9"/>
    <p:sldId xmlns:r="http://schemas.openxmlformats.org/officeDocument/2006/relationships" id="258" r:id="R96955aa2c90d476b"/>
    <p:sldId xmlns:r="http://schemas.openxmlformats.org/officeDocument/2006/relationships" id="259" r:id="Rd324a6d43df2402a"/>
    <p:sldId xmlns:r="http://schemas.openxmlformats.org/officeDocument/2006/relationships" id="260" r:id="R19908d5140f84cdf"/>
    <p:sldId xmlns:r="http://schemas.openxmlformats.org/officeDocument/2006/relationships" id="261" r:id="R9659f5d6dc9f45f4"/>
    <p:sldId xmlns:r="http://schemas.openxmlformats.org/officeDocument/2006/relationships" id="262" r:id="Rbb611e8092f34b43"/>
    <p:sldId xmlns:r="http://schemas.openxmlformats.org/officeDocument/2006/relationships" id="263" r:id="Re7f4ac6e5e3d4d02"/>
    <p:sldId xmlns:r="http://schemas.openxmlformats.org/officeDocument/2006/relationships" id="264" r:id="Re97e2c6559f04860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e825ddd10f4e17" /><Relationship Type="http://schemas.openxmlformats.org/officeDocument/2006/relationships/slideMaster" Target="/ppt/slideMasters/slideMaster1.xml" Id="Re2a8da295e2c4ff5" /><Relationship Type="http://schemas.openxmlformats.org/officeDocument/2006/relationships/notesMaster" Target="/ppt/notesMasters/notesMaster1.xml" Id="R04a20b098ef24f28" /><Relationship Type="http://schemas.openxmlformats.org/officeDocument/2006/relationships/presProps" Target="/ppt/presProps.xml" Id="R6e9a8728b1a544c5" /><Relationship Type="http://schemas.openxmlformats.org/officeDocument/2006/relationships/tableStyles" Target="/ppt/tableStyles.xml" Id="Re511611a584344f9" /><Relationship Type="http://schemas.openxmlformats.org/officeDocument/2006/relationships/slide" Target="/ppt/slides/slide1.xml" Id="Ra818f998aa784cf8" /><Relationship Type="http://schemas.openxmlformats.org/officeDocument/2006/relationships/slide" Target="/ppt/slides/slide2.xml" Id="Reab247fce4ac46d9" /><Relationship Type="http://schemas.openxmlformats.org/officeDocument/2006/relationships/slide" Target="/ppt/slides/slide3.xml" Id="R96955aa2c90d476b" /><Relationship Type="http://schemas.openxmlformats.org/officeDocument/2006/relationships/slide" Target="/ppt/slides/slide4.xml" Id="Rd324a6d43df2402a" /><Relationship Type="http://schemas.openxmlformats.org/officeDocument/2006/relationships/slide" Target="/ppt/slides/slide5.xml" Id="R19908d5140f84cdf" /><Relationship Type="http://schemas.openxmlformats.org/officeDocument/2006/relationships/slide" Target="/ppt/slides/slide6.xml" Id="R9659f5d6dc9f45f4" /><Relationship Type="http://schemas.openxmlformats.org/officeDocument/2006/relationships/slide" Target="/ppt/slides/slide7.xml" Id="Rbb611e8092f34b43" /><Relationship Type="http://schemas.openxmlformats.org/officeDocument/2006/relationships/slide" Target="/ppt/slides/slide8.xml" Id="Re7f4ac6e5e3d4d02" /><Relationship Type="http://schemas.openxmlformats.org/officeDocument/2006/relationships/slide" Target="/ppt/slides/slide9.xml" Id="Re97e2c6559f048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69e8b0a13142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86ec69df8c4697" /><Relationship Type="http://schemas.openxmlformats.org/officeDocument/2006/relationships/notesMaster" Target="/ppt/notesMasters/notesMaster1.xml" Id="Rd862aa76219f42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6cbc647f4f4970" /><Relationship Type="http://schemas.openxmlformats.org/officeDocument/2006/relationships/notesMaster" Target="/ppt/notesMasters/notesMaster1.xml" Id="R3fcfcd9def8648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3adb7e38cb45e6" /><Relationship Type="http://schemas.openxmlformats.org/officeDocument/2006/relationships/notesMaster" Target="/ppt/notesMasters/notesMaster1.xml" Id="R89ade5385ada4f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85df89e76d4587" /><Relationship Type="http://schemas.openxmlformats.org/officeDocument/2006/relationships/notesMaster" Target="/ppt/notesMasters/notesMaster1.xml" Id="R798b814ff75445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13739965f2499f" /><Relationship Type="http://schemas.openxmlformats.org/officeDocument/2006/relationships/notesMaster" Target="/ppt/notesMasters/notesMaster1.xml" Id="R73dfd17100b442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9c4850ed7b454e" /><Relationship Type="http://schemas.openxmlformats.org/officeDocument/2006/relationships/notesMaster" Target="/ppt/notesMasters/notesMaster1.xml" Id="R682b3327b4924d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f7da589fea4953" /><Relationship Type="http://schemas.openxmlformats.org/officeDocument/2006/relationships/notesMaster" Target="/ppt/notesMasters/notesMaster1.xml" Id="R53c9cd4e4c7544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90b79abfc443c6" /><Relationship Type="http://schemas.openxmlformats.org/officeDocument/2006/relationships/notesMaster" Target="/ppt/notesMasters/notesMaster1.xml" Id="R3f831896dc5c48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e0abe91215451f" /><Relationship Type="http://schemas.openxmlformats.org/officeDocument/2006/relationships/notesMaster" Target="/ppt/notesMasters/notesMaster1.xml" Id="R4d89de4ad8784d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1cbe92d2049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92ba0f6e8548f1" /><Relationship Type="http://schemas.openxmlformats.org/officeDocument/2006/relationships/slideLayout" Target="/ppt/slideLayouts/slideLayout1.xml" Id="R87ad80930b6348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ad80930b6348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f68fd795a4815" /><Relationship Type="http://schemas.openxmlformats.org/officeDocument/2006/relationships/notesSlide" Target="/ppt/notesSlides/notesSlide1.xml" Id="R30b7b12aec024a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8fd6305e844cd" /><Relationship Type="http://schemas.openxmlformats.org/officeDocument/2006/relationships/notesSlide" Target="/ppt/notesSlides/notesSlide2.xml" Id="R4beb3a8e3da446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d1a5016ad4543" /><Relationship Type="http://schemas.openxmlformats.org/officeDocument/2006/relationships/notesSlide" Target="/ppt/notesSlides/notesSlide3.xml" Id="Rc2570325a3c847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9781c951e4b88" /><Relationship Type="http://schemas.openxmlformats.org/officeDocument/2006/relationships/notesSlide" Target="/ppt/notesSlides/notesSlide4.xml" Id="R18dbf1904b9240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745ba3b6640e1" /><Relationship Type="http://schemas.openxmlformats.org/officeDocument/2006/relationships/notesSlide" Target="/ppt/notesSlides/notesSlide5.xml" Id="R94ef421cc5a649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ba3a915344235" /><Relationship Type="http://schemas.openxmlformats.org/officeDocument/2006/relationships/chart" Target="/ppt/slides/charts/chart1.xml" Id="R0e46277d0f32406e" /><Relationship Type="http://schemas.openxmlformats.org/officeDocument/2006/relationships/notesSlide" Target="/ppt/notesSlides/notesSlide6.xml" Id="Rf4693e860ef34b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a755e6fe341d9" /><Relationship Type="http://schemas.openxmlformats.org/officeDocument/2006/relationships/notesSlide" Target="/ppt/notesSlides/notesSlide7.xml" Id="Rd165689607fd42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8820d0fcb4f5f" /><Relationship Type="http://schemas.openxmlformats.org/officeDocument/2006/relationships/notesSlide" Target="/ppt/notesSlides/notesSlide8.xml" Id="R98242620b47c45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8392814364187" /><Relationship Type="http://schemas.openxmlformats.org/officeDocument/2006/relationships/notesSlide" Target="/ppt/notesSlides/notesSlide9.xml" Id="R0d509a3eb17c419b" /></Relationships>
</file>

<file path=ppt/slides/charts/chart1.xml><?xml version="1.0" encoding="utf-8"?>
<c:chartSpace xmlns:c="http://schemas.openxmlformats.org/drawingml/2006/chart">
  <c:lang val="en-US"/>
  <c:chart>
    <c:plotArea>
      <c:pieChart>
        <c:ser>
          <c:idx val="0"/>
          <c:order val="0"/>
          <c:tx>
            <c:v>Market share</c:v>
          </c:tx>
          <c:spPr>
            <a:ln xmlns:a="http://schemas.openxmlformats.org/drawingml/2006/main" w="38100">
              <a:solidFill>
                <a:srgbClr val="FFFFFF"/>
              </a:solidFill>
              <a:prstDash val="solid"/>
            </a:ln>
          </c:spPr>
          <c:dPt>
            <c:idx val="0"/>
            <c:spPr>
              <a:solidFill xmlns:a="http://schemas.openxmlformats.org/drawingml/2006/main">
                <a:srgbClr val="B9C3F6"/>
              </a:solidFill>
              <a:ln xmlns:a="http://schemas.openxmlformats.org/drawingml/2006/main" w="38100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3A3CB6"/>
              </a:solidFill>
              <a:ln xmlns:a="http://schemas.openxmlformats.org/drawingml/2006/main" w="38100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7A80D6"/>
              </a:solidFill>
              <a:ln xmlns:a="http://schemas.openxmlformats.org/drawingml/2006/main" w="38100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3"/>
              <c:pt idx="0">
                <c:v>Segment A</c:v>
              </c:pt>
              <c:pt idx="1">
                <c:v>Segment B</c:v>
              </c:pt>
              <c:pt idx="2">
                <c:v>Segment C</c:v>
              </c:pt>
            </c:strLit>
          </c:cat>
          <c:val>
            <c:numLit>
              <c:formatCode>General</c:formatCode>
              <c:ptCount val="3"/>
              <c:pt idx="0">
                <c:v>35</c:v>
              </c:pt>
              <c:pt idx="1">
                <c:v>40</c:v>
              </c:pt>
              <c:pt idx="2">
                <c:v>25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324"/>
      </c:pieChart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1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canvas-frame">
            <a:extLst xmlns:a="http://schemas.openxmlformats.org/drawingml/2006/main">
              <a:ext uri="{FF2B5EF4-FFF2-40B4-BE49-F238E27FC236}">
                <a16:creationId xmlns:a16="http://schemas.microsoft.com/office/drawing/2014/main" id="{DCBAFB27-E778-4E68-A450-65372B3E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97B7D"/>
            </a:solidFill>
            <a:prstDash val="solid"/>
          </a:ln>
        </p:spPr>
      </p:sp>
      <p:sp>
        <p:nvSpPr>
          <p:cNvPr id="2" name="cover-project-name">
            <a:extLst xmlns:a="http://schemas.openxmlformats.org/drawingml/2006/main">
              <a:ext uri="{FF2B5EF4-FFF2-40B4-BE49-F238E27FC236}">
                <a16:creationId xmlns:a16="http://schemas.microsoft.com/office/drawing/2014/main" id="{DB0E004B-B641-41AE-A2B9-EFFFE35C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907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72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900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3900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Project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020B756-8FCA-4075-859C-2227C2E2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003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6062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606264"/>
                </a:solidFill>
                <a:latin typeface="Apple SD Gothic Neo"/>
                <a:ea typeface="Apple SD Gothic Neo"/>
                <a:cs typeface="Apple SD Gothic Neo"/>
              </a:rPr>
              <a:t>한 줄 서비스 설명</a:t>
            </a:r>
          </a:p>
        </p:txBody>
      </p:sp>
      <p:sp>
        <p:nvSpPr>
          <p:cNvPr id="4" name="cover-presented-by">
            <a:extLst xmlns:a="http://schemas.openxmlformats.org/drawingml/2006/main">
              <a:ext uri="{FF2B5EF4-FFF2-40B4-BE49-F238E27FC236}">
                <a16:creationId xmlns:a16="http://schemas.microsoft.com/office/drawing/2014/main" id="{1C489859-DD6F-4DED-998A-17796471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71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Presented by</a:t>
            </a:r>
          </a:p>
        </p:txBody>
      </p:sp>
      <p:sp>
        <p:nvSpPr>
          <p:cNvPr id="5" name="cover-presenter">
            <a:extLst xmlns:a="http://schemas.openxmlformats.org/drawingml/2006/main">
              <a:ext uri="{FF2B5EF4-FFF2-40B4-BE49-F238E27FC236}">
                <a16:creationId xmlns:a16="http://schemas.microsoft.com/office/drawing/2014/main" id="{4C4B01D7-8D67-4FBE-B4A0-EF18CC5B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364EF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364EF0"/>
                </a:solidFill>
                <a:latin typeface="Apple SD Gothic Neo"/>
                <a:ea typeface="Apple SD Gothic Neo"/>
                <a:cs typeface="Apple SD Gothic Neo"/>
              </a:rPr>
              <a:t>이름 · 직책</a:t>
            </a:r>
          </a:p>
        </p:txBody>
      </p:sp>
    </p:spTree>
    <p:extLst>
      <p:ext uri="{BB962C8B-B14F-4D97-AF65-F5344CB8AC3E}">
        <p14:creationId xmlns:p14="http://schemas.microsoft.com/office/powerpoint/2010/main" val="5869898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roblems-canvas-frame">
            <a:extLst xmlns:a="http://schemas.openxmlformats.org/drawingml/2006/main">
              <a:ext uri="{FF2B5EF4-FFF2-40B4-BE49-F238E27FC236}">
                <a16:creationId xmlns:a16="http://schemas.microsoft.com/office/drawing/2014/main" id="{D5BA8D3A-6A7C-4B46-B864-C539359C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97B7D"/>
            </a:solidFill>
            <a:prstDash val="solid"/>
          </a:ln>
        </p:spPr>
      </p:sp>
      <p:sp>
        <p:nvSpPr>
          <p:cNvPr id="2" name="title-prefix">
            <a:extLst xmlns:a="http://schemas.openxmlformats.org/drawingml/2006/main">
              <a:ext uri="{FF2B5EF4-FFF2-40B4-BE49-F238E27FC236}">
                <a16:creationId xmlns:a16="http://schemas.microsoft.com/office/drawing/2014/main" id="{6DC3F209-80A1-499F-9B6E-B9F58009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581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2325" b="0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Our</a:t>
            </a:r>
          </a:p>
        </p:txBody>
      </p:sp>
      <p:sp>
        <p:nvSpPr>
          <p:cNvPr id="3" name="title-keyword">
            <a:extLst xmlns:a="http://schemas.openxmlformats.org/drawingml/2006/main">
              <a:ext uri="{FF2B5EF4-FFF2-40B4-BE49-F238E27FC236}">
                <a16:creationId xmlns:a16="http://schemas.microsoft.com/office/drawing/2014/main" id="{7B059265-EBE5-4155-A884-AC13653B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"/>
            <a:ext cx="1666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Problems</a:t>
            </a:r>
          </a:p>
        </p:txBody>
      </p:sp>
      <p:sp>
        <p:nvSpPr>
          <p:cNvPr id="4" name="problem-1-surface">
            <a:extLst xmlns:a="http://schemas.openxmlformats.org/drawingml/2006/main">
              <a:ext uri="{FF2B5EF4-FFF2-40B4-BE49-F238E27FC236}">
                <a16:creationId xmlns:a16="http://schemas.microsoft.com/office/drawing/2014/main" id="{3E025F13-6EE9-4651-AD60-3A1C9BB6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76425"/>
            <a:ext cx="26574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ABAE"/>
            </a:solidFill>
            <a:prstDash val="solid"/>
          </a:ln>
        </p:spPr>
      </p:sp>
      <p:sp>
        <p:nvSpPr>
          <p:cNvPr id="5" name="problem-1-heading">
            <a:extLst xmlns:a="http://schemas.openxmlformats.org/drawingml/2006/main">
              <a:ext uri="{FF2B5EF4-FFF2-40B4-BE49-F238E27FC236}">
                <a16:creationId xmlns:a16="http://schemas.microsoft.com/office/drawing/2014/main" id="{36F07FB3-21AE-4C64-86A1-6EC2CD2F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990725"/>
            <a:ext cx="2447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64EF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64EF0"/>
                </a:solidFill>
                <a:latin typeface="Apple SD Gothic Neo"/>
                <a:ea typeface="Apple SD Gothic Neo"/>
                <a:cs typeface="Apple SD Gothic Neo"/>
              </a:rPr>
              <a:t>낮은 핵심 기능 활용도</a:t>
            </a:r>
          </a:p>
        </p:txBody>
      </p:sp>
      <p:sp>
        <p:nvSpPr>
          <p:cNvPr id="6" name="problem-1-body">
            <a:extLst xmlns:a="http://schemas.openxmlformats.org/drawingml/2006/main">
              <a:ext uri="{FF2B5EF4-FFF2-40B4-BE49-F238E27FC236}">
                <a16:creationId xmlns:a16="http://schemas.microsoft.com/office/drawing/2014/main" id="{457B513B-BBE2-425F-9C5E-3A98A8A8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47900"/>
            <a:ext cx="2447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38" b="0">
                <a:solidFill>
                  <a:srgbClr val="6062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606264"/>
                </a:solidFill>
                <a:latin typeface="Apple SD Gothic Neo"/>
                <a:ea typeface="Apple SD Gothic Neo"/>
                <a:cs typeface="Apple SD Gothic Neo"/>
              </a:rPr>
              <a:t>사용자는 기능을 알고 있어도 실제 상황에서 언제 활용해야 할지 자주 놓칩니다.</a:t>
            </a:r>
          </a:p>
        </p:txBody>
      </p:sp>
      <p:sp>
        <p:nvSpPr>
          <p:cNvPr id="7" name="problem-2-surface">
            <a:extLst xmlns:a="http://schemas.openxmlformats.org/drawingml/2006/main">
              <a:ext uri="{FF2B5EF4-FFF2-40B4-BE49-F238E27FC236}">
                <a16:creationId xmlns:a16="http://schemas.microsoft.com/office/drawing/2014/main" id="{6DAC41C3-0CA3-4E62-85E3-79AD54C0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76425"/>
            <a:ext cx="26574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ABAE"/>
            </a:solidFill>
            <a:prstDash val="solid"/>
          </a:ln>
        </p:spPr>
      </p:sp>
      <p:sp>
        <p:nvSpPr>
          <p:cNvPr id="8" name="problem-2-heading">
            <a:extLst xmlns:a="http://schemas.openxmlformats.org/drawingml/2006/main">
              <a:ext uri="{FF2B5EF4-FFF2-40B4-BE49-F238E27FC236}">
                <a16:creationId xmlns:a16="http://schemas.microsoft.com/office/drawing/2014/main" id="{D71555CC-560B-4365-8C81-8DD57454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990725"/>
            <a:ext cx="2447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64EF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64EF0"/>
                </a:solidFill>
                <a:latin typeface="Apple SD Gothic Neo"/>
                <a:ea typeface="Apple SD Gothic Neo"/>
                <a:cs typeface="Apple SD Gothic Neo"/>
              </a:rPr>
              <a:t>너무 많은 선택지</a:t>
            </a:r>
          </a:p>
        </p:txBody>
      </p:sp>
      <p:sp>
        <p:nvSpPr>
          <p:cNvPr id="9" name="problem-2-body">
            <a:extLst xmlns:a="http://schemas.openxmlformats.org/drawingml/2006/main">
              <a:ext uri="{FF2B5EF4-FFF2-40B4-BE49-F238E27FC236}">
                <a16:creationId xmlns:a16="http://schemas.microsoft.com/office/drawing/2014/main" id="{F3CD81A5-A0EF-473F-89EE-EE65E4D0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247900"/>
            <a:ext cx="2447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38" b="0">
                <a:solidFill>
                  <a:srgbClr val="6062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606264"/>
                </a:solidFill>
                <a:latin typeface="Apple SD Gothic Neo"/>
                <a:ea typeface="Apple SD Gothic Neo"/>
                <a:cs typeface="Apple SD Gothic Neo"/>
              </a:rPr>
              <a:t>종류가 지나치게 많으면 비교와 판단이 어려워져 시작 자체를 미루게 됩니다.</a:t>
            </a:r>
          </a:p>
        </p:txBody>
      </p:sp>
      <p:sp>
        <p:nvSpPr>
          <p:cNvPr id="10" name="problem-3-surface">
            <a:extLst xmlns:a="http://schemas.openxmlformats.org/drawingml/2006/main">
              <a:ext uri="{FF2B5EF4-FFF2-40B4-BE49-F238E27FC236}">
                <a16:creationId xmlns:a16="http://schemas.microsoft.com/office/drawing/2014/main" id="{79B79BBD-EB94-490D-89A6-6B9EDD84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76425"/>
            <a:ext cx="2667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ABAE"/>
            </a:solidFill>
            <a:prstDash val="solid"/>
          </a:ln>
        </p:spPr>
      </p:sp>
      <p:sp>
        <p:nvSpPr>
          <p:cNvPr id="11" name="problem-3-heading">
            <a:extLst xmlns:a="http://schemas.openxmlformats.org/drawingml/2006/main">
              <a:ext uri="{FF2B5EF4-FFF2-40B4-BE49-F238E27FC236}">
                <a16:creationId xmlns:a16="http://schemas.microsoft.com/office/drawing/2014/main" id="{67165595-13E0-4FA7-B1F1-0E4DD627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990725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64EF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64EF0"/>
                </a:solidFill>
                <a:latin typeface="Apple SD Gothic Neo"/>
                <a:ea typeface="Apple SD Gothic Neo"/>
                <a:cs typeface="Apple SD Gothic Neo"/>
              </a:rPr>
              <a:t>현재 상태를 알기 어려움</a:t>
            </a:r>
          </a:p>
        </p:txBody>
      </p:sp>
      <p:sp>
        <p:nvSpPr>
          <p:cNvPr id="12" name="problem-3-body">
            <a:extLst xmlns:a="http://schemas.openxmlformats.org/drawingml/2006/main">
              <a:ext uri="{FF2B5EF4-FFF2-40B4-BE49-F238E27FC236}">
                <a16:creationId xmlns:a16="http://schemas.microsoft.com/office/drawing/2014/main" id="{14F3F871-5C03-4A63-A497-8A3BB3FC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247900"/>
            <a:ext cx="2457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38" b="0">
                <a:solidFill>
                  <a:srgbClr val="6062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606264"/>
                </a:solidFill>
                <a:latin typeface="Apple SD Gothic Neo"/>
                <a:ea typeface="Apple SD Gothic Neo"/>
                <a:cs typeface="Apple SD Gothic Neo"/>
              </a:rPr>
              <a:t>사용자가 스스로 수준과 진행 상태를 객관적으로 파악하기 어렵습니다.</a:t>
            </a:r>
          </a:p>
        </p:txBody>
      </p:sp>
    </p:spTree>
    <p:extLst>
      <p:ext uri="{BB962C8B-B14F-4D97-AF65-F5344CB8AC3E}">
        <p14:creationId xmlns:p14="http://schemas.microsoft.com/office/powerpoint/2010/main" val="11879660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1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olutions-canvas-frame">
            <a:extLst xmlns:a="http://schemas.openxmlformats.org/drawingml/2006/main">
              <a:ext uri="{FF2B5EF4-FFF2-40B4-BE49-F238E27FC236}">
                <a16:creationId xmlns:a16="http://schemas.microsoft.com/office/drawing/2014/main" id="{52B15B4D-2DFD-4B2E-9290-B0653C11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97B7D"/>
            </a:solidFill>
            <a:prstDash val="solid"/>
          </a:ln>
        </p:spPr>
      </p:sp>
      <p:sp>
        <p:nvSpPr>
          <p:cNvPr id="2" name="title-prefix">
            <a:extLst xmlns:a="http://schemas.openxmlformats.org/drawingml/2006/main">
              <a:ext uri="{FF2B5EF4-FFF2-40B4-BE49-F238E27FC236}">
                <a16:creationId xmlns:a16="http://schemas.microsoft.com/office/drawing/2014/main" id="{6665BC42-4A58-4545-8911-B6D498C3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581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2325" b="0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Our</a:t>
            </a:r>
          </a:p>
        </p:txBody>
      </p:sp>
      <p:sp>
        <p:nvSpPr>
          <p:cNvPr id="3" name="title-keyword">
            <a:extLst xmlns:a="http://schemas.openxmlformats.org/drawingml/2006/main">
              <a:ext uri="{FF2B5EF4-FFF2-40B4-BE49-F238E27FC236}">
                <a16:creationId xmlns:a16="http://schemas.microsoft.com/office/drawing/2014/main" id="{DE1276BE-D805-4447-BCFE-EEDFB845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"/>
            <a:ext cx="161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Solution</a:t>
            </a:r>
          </a:p>
        </p:txBody>
      </p:sp>
      <p:sp>
        <p:nvSpPr>
          <p:cNvPr id="4" name="solution-1-surface">
            <a:extLst xmlns:a="http://schemas.openxmlformats.org/drawingml/2006/main">
              <a:ext uri="{FF2B5EF4-FFF2-40B4-BE49-F238E27FC236}">
                <a16:creationId xmlns:a16="http://schemas.microsoft.com/office/drawing/2014/main" id="{F06953E7-FC3A-4F51-81A9-76487B96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85950"/>
            <a:ext cx="26574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CB6"/>
          </a:solidFill>
          <a:ln xmlns:a="http://schemas.openxmlformats.org/drawingml/2006/main" w="0">
            <a:solidFill>
              <a:srgbClr val="3A3CB6"/>
            </a:solidFill>
            <a:prstDash val="solid"/>
          </a:ln>
        </p:spPr>
      </p:sp>
      <p:sp>
        <p:nvSpPr>
          <p:cNvPr id="5" name="solution-1-heading">
            <a:extLst xmlns:a="http://schemas.openxmlformats.org/drawingml/2006/main">
              <a:ext uri="{FF2B5EF4-FFF2-40B4-BE49-F238E27FC236}">
                <a16:creationId xmlns:a16="http://schemas.microsoft.com/office/drawing/2014/main" id="{B162845F-88D9-4352-AC1F-CCAA79C2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00250"/>
            <a:ext cx="2447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상황에 맞춘 기능 추천</a:t>
            </a:r>
          </a:p>
        </p:txBody>
      </p:sp>
      <p:sp>
        <p:nvSpPr>
          <p:cNvPr id="6" name="solution-1-body">
            <a:extLst xmlns:a="http://schemas.openxmlformats.org/drawingml/2006/main">
              <a:ext uri="{FF2B5EF4-FFF2-40B4-BE49-F238E27FC236}">
                <a16:creationId xmlns:a16="http://schemas.microsoft.com/office/drawing/2014/main" id="{C5FD3250-1733-4112-8AE2-58B0EF2A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57425"/>
            <a:ext cx="2447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38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자주 막히는 순간을 먼저 찾아 필요한 기능을 바로 제안합니다. 사용자는 복잡한 탐색 없이 다음 행동을 선택합니다.</a:t>
            </a:r>
          </a:p>
        </p:txBody>
      </p:sp>
      <p:sp>
        <p:nvSpPr>
          <p:cNvPr id="7" name="solution-2-surface">
            <a:extLst xmlns:a="http://schemas.openxmlformats.org/drawingml/2006/main">
              <a:ext uri="{FF2B5EF4-FFF2-40B4-BE49-F238E27FC236}">
                <a16:creationId xmlns:a16="http://schemas.microsoft.com/office/drawing/2014/main" id="{1992F90D-0624-4AEA-8851-4964F941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85950"/>
            <a:ext cx="26574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CB6"/>
          </a:solidFill>
          <a:ln xmlns:a="http://schemas.openxmlformats.org/drawingml/2006/main" w="0">
            <a:solidFill>
              <a:srgbClr val="3A3CB6"/>
            </a:solidFill>
            <a:prstDash val="solid"/>
          </a:ln>
        </p:spPr>
      </p:sp>
      <p:sp>
        <p:nvSpPr>
          <p:cNvPr id="8" name="solution-2-heading">
            <a:extLst xmlns:a="http://schemas.openxmlformats.org/drawingml/2006/main">
              <a:ext uri="{FF2B5EF4-FFF2-40B4-BE49-F238E27FC236}">
                <a16:creationId xmlns:a16="http://schemas.microsoft.com/office/drawing/2014/main" id="{95F96BA8-6BF5-4C64-967F-4C05E00C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00250"/>
            <a:ext cx="2447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단순한 구독 경험</a:t>
            </a:r>
          </a:p>
        </p:txBody>
      </p:sp>
      <p:sp>
        <p:nvSpPr>
          <p:cNvPr id="9" name="solution-2-body">
            <a:extLst xmlns:a="http://schemas.openxmlformats.org/drawingml/2006/main">
              <a:ext uri="{FF2B5EF4-FFF2-40B4-BE49-F238E27FC236}">
                <a16:creationId xmlns:a16="http://schemas.microsoft.com/office/drawing/2014/main" id="{24EE546E-DE57-4427-9554-60543648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257425"/>
            <a:ext cx="2447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38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핵심 기능과 콘텐츠를 한 흐름에 묶어 반복 이용을 쉽게 만듭니다. 진입 장벽은 낮추고 효용은 분명하게 보여줍니다.</a:t>
            </a:r>
          </a:p>
        </p:txBody>
      </p:sp>
      <p:sp>
        <p:nvSpPr>
          <p:cNvPr id="10" name="solution-3-surface">
            <a:extLst xmlns:a="http://schemas.openxmlformats.org/drawingml/2006/main">
              <a:ext uri="{FF2B5EF4-FFF2-40B4-BE49-F238E27FC236}">
                <a16:creationId xmlns:a16="http://schemas.microsoft.com/office/drawing/2014/main" id="{AD9DA929-B1C9-43CF-9F27-A751B8E0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85950"/>
            <a:ext cx="2667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CB6"/>
          </a:solidFill>
          <a:ln xmlns:a="http://schemas.openxmlformats.org/drawingml/2006/main" w="0">
            <a:solidFill>
              <a:srgbClr val="3A3CB6"/>
            </a:solidFill>
            <a:prstDash val="solid"/>
          </a:ln>
        </p:spPr>
      </p:sp>
      <p:sp>
        <p:nvSpPr>
          <p:cNvPr id="11" name="solution-3-heading">
            <a:extLst xmlns:a="http://schemas.openxmlformats.org/drawingml/2006/main">
              <a:ext uri="{FF2B5EF4-FFF2-40B4-BE49-F238E27FC236}">
                <a16:creationId xmlns:a16="http://schemas.microsoft.com/office/drawing/2014/main" id="{95A88521-7269-45F1-B6D3-F2151D03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0002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직관적인 성과 데이터</a:t>
            </a:r>
          </a:p>
        </p:txBody>
      </p:sp>
      <p:sp>
        <p:nvSpPr>
          <p:cNvPr id="12" name="solution-3-body">
            <a:extLst xmlns:a="http://schemas.openxmlformats.org/drawingml/2006/main">
              <a:ext uri="{FF2B5EF4-FFF2-40B4-BE49-F238E27FC236}">
                <a16:creationId xmlns:a16="http://schemas.microsoft.com/office/drawing/2014/main" id="{BE7FE838-DE4C-469B-A1E8-A3C4C3F3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257425"/>
            <a:ext cx="2457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38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점수 하나보다 변화와 비교가 보이는 통계를 제공합니다. 사용자는 자신의 현재 상태와 다음 목표를 바로 이해합니다.</a:t>
            </a:r>
          </a:p>
        </p:txBody>
      </p:sp>
    </p:spTree>
    <p:extLst>
      <p:ext uri="{BB962C8B-B14F-4D97-AF65-F5344CB8AC3E}">
        <p14:creationId xmlns:p14="http://schemas.microsoft.com/office/powerpoint/2010/main" val="14202581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roduct-canvas-frame">
            <a:extLst xmlns:a="http://schemas.openxmlformats.org/drawingml/2006/main">
              <a:ext uri="{FF2B5EF4-FFF2-40B4-BE49-F238E27FC236}">
                <a16:creationId xmlns:a16="http://schemas.microsoft.com/office/drawing/2014/main" id="{ED5AF7B5-B04D-4D5B-90DC-2E48582D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97B7D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7D9932-3D35-40F2-AC98-6F210AC8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381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Product</a:t>
            </a:r>
          </a:p>
        </p:txBody>
      </p:sp>
      <p:sp>
        <p:nvSpPr>
          <p:cNvPr id="3" name="product-input-circle">
            <a:extLst xmlns:a="http://schemas.openxmlformats.org/drawingml/2006/main">
              <a:ext uri="{FF2B5EF4-FFF2-40B4-BE49-F238E27FC236}">
                <a16:creationId xmlns:a16="http://schemas.microsoft.com/office/drawing/2014/main" id="{F3242C59-01F7-4CFF-8CE8-7CB4CA9F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02882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97B7D"/>
            </a:solidFill>
            <a:prstDash val="solid"/>
          </a:ln>
        </p:spPr>
      </p:sp>
      <p:sp>
        <p:nvSpPr>
          <p:cNvPr id="4" name="product-input-glyph">
            <a:extLst xmlns:a="http://schemas.openxmlformats.org/drawingml/2006/main">
              <a:ext uri="{FF2B5EF4-FFF2-40B4-BE49-F238E27FC236}">
                <a16:creationId xmlns:a16="http://schemas.microsoft.com/office/drawing/2014/main" id="{903FFD22-F44B-4249-B378-3D4E82F6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247900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00000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product-core-circle">
            <a:extLst xmlns:a="http://schemas.openxmlformats.org/drawingml/2006/main">
              <a:ext uri="{FF2B5EF4-FFF2-40B4-BE49-F238E27FC236}">
                <a16:creationId xmlns:a16="http://schemas.microsoft.com/office/drawing/2014/main" id="{24145FBF-EF3D-48B4-9289-C6BD00A6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2882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97B7D"/>
            </a:solidFill>
            <a:prstDash val="solid"/>
          </a:ln>
        </p:spPr>
      </p:sp>
      <p:sp>
        <p:nvSpPr>
          <p:cNvPr id="6" name="product-core-glyph">
            <a:extLst xmlns:a="http://schemas.openxmlformats.org/drawingml/2006/main">
              <a:ext uri="{FF2B5EF4-FFF2-40B4-BE49-F238E27FC236}">
                <a16:creationId xmlns:a16="http://schemas.microsoft.com/office/drawing/2014/main" id="{ED5AE74B-0656-454C-AE41-BEBE23D4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47900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0000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7" name="product-output-a-circle">
            <a:extLst xmlns:a="http://schemas.openxmlformats.org/drawingml/2006/main">
              <a:ext uri="{FF2B5EF4-FFF2-40B4-BE49-F238E27FC236}">
                <a16:creationId xmlns:a16="http://schemas.microsoft.com/office/drawing/2014/main" id="{F09DBB67-E982-45DC-AE08-B144CA64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97B7D"/>
            </a:solidFill>
            <a:prstDash val="solid"/>
          </a:ln>
        </p:spPr>
      </p:sp>
      <p:sp>
        <p:nvSpPr>
          <p:cNvPr id="8" name="product-output-a-glyph">
            <a:extLst xmlns:a="http://schemas.openxmlformats.org/drawingml/2006/main">
              <a:ext uri="{FF2B5EF4-FFF2-40B4-BE49-F238E27FC236}">
                <a16:creationId xmlns:a16="http://schemas.microsoft.com/office/drawing/2014/main" id="{E6B0A588-7437-4541-A551-CC9ED2D9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09600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00000"/>
                </a:solidFill>
                <a:latin typeface="Avenir Next"/>
                <a:ea typeface="Avenir Next"/>
                <a:cs typeface="Avenir Next"/>
              </a:rPr>
              <a:t>A</a:t>
            </a:r>
          </a:p>
        </p:txBody>
      </p:sp>
      <p:sp>
        <p:nvSpPr>
          <p:cNvPr id="9" name="product-output-b-circle">
            <a:extLst xmlns:a="http://schemas.openxmlformats.org/drawingml/2006/main">
              <a:ext uri="{FF2B5EF4-FFF2-40B4-BE49-F238E27FC236}">
                <a16:creationId xmlns:a16="http://schemas.microsoft.com/office/drawing/2014/main" id="{4505F02C-F956-4B53-BA50-5879BBAC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2882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97B7D"/>
            </a:solidFill>
            <a:prstDash val="solid"/>
          </a:ln>
        </p:spPr>
      </p:sp>
      <p:sp>
        <p:nvSpPr>
          <p:cNvPr id="10" name="product-output-b-glyph">
            <a:extLst xmlns:a="http://schemas.openxmlformats.org/drawingml/2006/main">
              <a:ext uri="{FF2B5EF4-FFF2-40B4-BE49-F238E27FC236}">
                <a16:creationId xmlns:a16="http://schemas.microsoft.com/office/drawing/2014/main" id="{5A6343EB-AD23-4501-808D-5C962FBA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00000"/>
                </a:solidFill>
                <a:latin typeface="Avenir Next"/>
                <a:ea typeface="Avenir Next"/>
                <a:cs typeface="Avenir Next"/>
              </a:rPr>
              <a:t>B</a:t>
            </a:r>
          </a:p>
        </p:txBody>
      </p:sp>
      <p:sp>
        <p:nvSpPr>
          <p:cNvPr id="11" name="product-output-c-circle">
            <a:extLst xmlns:a="http://schemas.openxmlformats.org/drawingml/2006/main">
              <a:ext uri="{FF2B5EF4-FFF2-40B4-BE49-F238E27FC236}">
                <a16:creationId xmlns:a16="http://schemas.microsoft.com/office/drawing/2014/main" id="{5EEA79DC-8B2D-4B47-BE80-AF4071FE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957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97B7D"/>
            </a:solidFill>
            <a:prstDash val="solid"/>
          </a:ln>
        </p:spPr>
      </p:sp>
      <p:sp>
        <p:nvSpPr>
          <p:cNvPr id="12" name="product-output-c-glyph">
            <a:extLst xmlns:a="http://schemas.openxmlformats.org/drawingml/2006/main">
              <a:ext uri="{FF2B5EF4-FFF2-40B4-BE49-F238E27FC236}">
                <a16:creationId xmlns:a16="http://schemas.microsoft.com/office/drawing/2014/main" id="{8E52762D-0D60-4E5A-8CB9-6F5CBB01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14775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00000"/>
                </a:solidFill>
                <a:latin typeface="Avenir Next"/>
                <a:ea typeface="Avenir Next"/>
                <a:cs typeface="Avenir Next"/>
              </a:rPr>
              <a:t>C</a:t>
            </a:r>
          </a:p>
        </p:txBody>
      </p:sp>
      <p:cxnSp>
        <p:nvCxnSpPr>
          <p:cNvPr id="34" name=""/>
          <p:cNvCxnSpPr>
            <a:stCxn xmlns:a="http://schemas.openxmlformats.org/drawingml/2006/main" id="3" idx="6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1933575" y="2409825"/>
            <a:ext cx="2257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35" name=""/>
          <p:cNvCxnSpPr>
            <a:stCxn xmlns:a="http://schemas.openxmlformats.org/drawingml/2006/main" id="5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4953000" y="771525"/>
            <a:ext cx="2114550" cy="1638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5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4953000" y="2409825"/>
            <a:ext cx="2114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5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4953000" y="2409825"/>
            <a:ext cx="2114550" cy="1666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med" len="med"/>
          </a:ln>
        </p:spPr>
      </p:cxnSp>
      <p:sp>
        <p:nvSpPr>
          <p:cNvPr id="17" name="product-input-label">
            <a:extLst xmlns:a="http://schemas.openxmlformats.org/drawingml/2006/main">
              <a:ext uri="{FF2B5EF4-FFF2-40B4-BE49-F238E27FC236}">
                <a16:creationId xmlns:a16="http://schemas.microsoft.com/office/drawing/2014/main" id="{6824B2C6-441C-43A0-84EC-EBD91C65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3A3CB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A3CB6"/>
                </a:solidFill>
                <a:latin typeface="Apple SD Gothic Neo"/>
                <a:ea typeface="Apple SD Gothic Neo"/>
                <a:cs typeface="Apple SD Gothic Neo"/>
              </a:rPr>
              <a:t>문제 선택</a:t>
            </a:r>
          </a:p>
        </p:txBody>
      </p:sp>
      <p:sp>
        <p:nvSpPr>
          <p:cNvPr id="18" name="product-core-label">
            <a:extLst xmlns:a="http://schemas.openxmlformats.org/drawingml/2006/main">
              <a:ext uri="{FF2B5EF4-FFF2-40B4-BE49-F238E27FC236}">
                <a16:creationId xmlns:a16="http://schemas.microsoft.com/office/drawing/2014/main" id="{C163C942-3321-4022-B018-5D6811CE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9146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3A3CB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A3CB6"/>
                </a:solidFill>
                <a:latin typeface="Apple SD Gothic Neo"/>
                <a:ea typeface="Apple SD Gothic Neo"/>
                <a:cs typeface="Apple SD Gothic Neo"/>
              </a:rPr>
              <a:t>핵심 실행</a:t>
            </a:r>
          </a:p>
        </p:txBody>
      </p:sp>
      <p:sp>
        <p:nvSpPr>
          <p:cNvPr id="19" name="product-output-a-label">
            <a:extLst xmlns:a="http://schemas.openxmlformats.org/drawingml/2006/main">
              <a:ext uri="{FF2B5EF4-FFF2-40B4-BE49-F238E27FC236}">
                <a16:creationId xmlns:a16="http://schemas.microsoft.com/office/drawing/2014/main" id="{FC062C30-D400-490C-A718-B80DA9DC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24777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3A3CB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A3CB6"/>
                </a:solidFill>
                <a:latin typeface="Apple SD Gothic Neo"/>
                <a:ea typeface="Apple SD Gothic Neo"/>
                <a:cs typeface="Apple SD Gothic Neo"/>
              </a:rPr>
              <a:t>결과 A</a:t>
            </a:r>
          </a:p>
        </p:txBody>
      </p:sp>
      <p:sp>
        <p:nvSpPr>
          <p:cNvPr id="20" name="product-output-b-label">
            <a:extLst xmlns:a="http://schemas.openxmlformats.org/drawingml/2006/main">
              <a:ext uri="{FF2B5EF4-FFF2-40B4-BE49-F238E27FC236}">
                <a16:creationId xmlns:a16="http://schemas.microsoft.com/office/drawing/2014/main" id="{7E1FBB99-EFC9-4421-A19C-D94E5237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146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3A3CB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A3CB6"/>
                </a:solidFill>
                <a:latin typeface="Apple SD Gothic Neo"/>
                <a:ea typeface="Apple SD Gothic Neo"/>
                <a:cs typeface="Apple SD Gothic Neo"/>
              </a:rPr>
              <a:t>결과 B</a:t>
            </a:r>
          </a:p>
        </p:txBody>
      </p:sp>
      <p:sp>
        <p:nvSpPr>
          <p:cNvPr id="21" name="product-output-c-label">
            <a:extLst xmlns:a="http://schemas.openxmlformats.org/drawingml/2006/main">
              <a:ext uri="{FF2B5EF4-FFF2-40B4-BE49-F238E27FC236}">
                <a16:creationId xmlns:a16="http://schemas.microsoft.com/office/drawing/2014/main" id="{7ED65C58-4EC9-49F9-9C9C-529BC98B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2437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3A3CB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A3CB6"/>
                </a:solidFill>
                <a:latin typeface="Apple SD Gothic Neo"/>
                <a:ea typeface="Apple SD Gothic Neo"/>
                <a:cs typeface="Apple SD Gothic Neo"/>
              </a:rPr>
              <a:t>결과 C</a:t>
            </a:r>
          </a:p>
        </p:txBody>
      </p:sp>
    </p:spTree>
    <p:extLst>
      <p:ext uri="{BB962C8B-B14F-4D97-AF65-F5344CB8AC3E}">
        <p14:creationId xmlns:p14="http://schemas.microsoft.com/office/powerpoint/2010/main" val="465101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usiness-model-canvas-frame">
            <a:extLst xmlns:a="http://schemas.openxmlformats.org/drawingml/2006/main">
              <a:ext uri="{FF2B5EF4-FFF2-40B4-BE49-F238E27FC236}">
                <a16:creationId xmlns:a16="http://schemas.microsoft.com/office/drawing/2014/main" id="{9B85427C-6048-4070-B62A-4F75B3E2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97B7D"/>
            </a:solidFill>
            <a:prstDash val="solid"/>
          </a:ln>
        </p:spPr>
      </p:sp>
      <p:sp>
        <p:nvSpPr>
          <p:cNvPr id="2" name="title-keyword">
            <a:extLst xmlns:a="http://schemas.openxmlformats.org/drawingml/2006/main">
              <a:ext uri="{FF2B5EF4-FFF2-40B4-BE49-F238E27FC236}">
                <a16:creationId xmlns:a16="http://schemas.microsoft.com/office/drawing/2014/main" id="{798FAF86-C4CB-4AF5-9E2C-2FEEE2D4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1257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Business</a:t>
            </a:r>
          </a:p>
        </p:txBody>
      </p:sp>
      <p:sp>
        <p:nvSpPr>
          <p:cNvPr id="3" name="title-suffix">
            <a:extLst xmlns:a="http://schemas.openxmlformats.org/drawingml/2006/main">
              <a:ext uri="{FF2B5EF4-FFF2-40B4-BE49-F238E27FC236}">
                <a16:creationId xmlns:a16="http://schemas.microsoft.com/office/drawing/2014/main" id="{6FB50B0F-7798-4A33-9453-76801717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762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2325" b="0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Model</a:t>
            </a:r>
          </a:p>
        </p:txBody>
      </p:sp>
      <p:sp>
        <p:nvSpPr>
          <p:cNvPr id="4" name="free-label">
            <a:extLst xmlns:a="http://schemas.openxmlformats.org/drawingml/2006/main">
              <a:ext uri="{FF2B5EF4-FFF2-40B4-BE49-F238E27FC236}">
                <a16:creationId xmlns:a16="http://schemas.microsoft.com/office/drawing/2014/main" id="{1E2C091E-4486-48A1-B7A9-FD2E2BCA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52600"/>
            <a:ext cx="1314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443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900" b="1">
                <a:solidFill>
                  <a:srgbClr val="364EF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1">
                <a:solidFill>
                  <a:srgbClr val="364EF0"/>
                </a:solidFill>
                <a:latin typeface="Apple SD Gothic Neo"/>
                <a:ea typeface="Apple SD Gothic Neo"/>
                <a:cs typeface="Apple SD Gothic Neo"/>
              </a:rPr>
              <a:t>무료</a:t>
            </a:r>
          </a:p>
        </p:txBody>
      </p:sp>
      <p:sp>
        <p:nvSpPr>
          <p:cNvPr id="5" name="conversion-arrow">
            <a:extLst xmlns:a="http://schemas.openxmlformats.org/drawingml/2006/main">
              <a:ext uri="{FF2B5EF4-FFF2-40B4-BE49-F238E27FC236}">
                <a16:creationId xmlns:a16="http://schemas.microsoft.com/office/drawing/2014/main" id="{071617AF-AA19-4A7A-AC9D-F351706D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526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525" b="0">
                <a:solidFill>
                  <a:srgbClr val="000000"/>
                </a:solidFill>
                <a:latin typeface="Avenir Next"/>
                <a:ea typeface="Avenir Next"/>
                <a:cs typeface="Avenir Next"/>
              </a:defRPr>
            </a:pPr>
            <a:r>
              <a:rPr sz="3525" b="0">
                <a:solidFill>
                  <a:srgbClr val="000000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6" name="paid-symbol-circle">
            <a:extLst xmlns:a="http://schemas.openxmlformats.org/drawingml/2006/main">
              <a:ext uri="{FF2B5EF4-FFF2-40B4-BE49-F238E27FC236}">
                <a16:creationId xmlns:a16="http://schemas.microsoft.com/office/drawing/2014/main" id="{789CFD9C-A377-45BB-AC02-7C4968C4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4668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EF0"/>
          </a:solidFill>
          <a:ln xmlns:a="http://schemas.openxmlformats.org/drawingml/2006/main" w="0">
            <a:solidFill>
              <a:srgbClr val="364EF0"/>
            </a:solidFill>
            <a:prstDash val="solid"/>
          </a:ln>
        </p:spPr>
      </p:sp>
      <p:sp>
        <p:nvSpPr>
          <p:cNvPr id="7" name="paid-currency">
            <a:extLst xmlns:a="http://schemas.openxmlformats.org/drawingml/2006/main">
              <a:ext uri="{FF2B5EF4-FFF2-40B4-BE49-F238E27FC236}">
                <a16:creationId xmlns:a16="http://schemas.microsoft.com/office/drawing/2014/main" id="{1F8D9395-2794-45E2-A4FE-F9EAF40E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609725"/>
            <a:ext cx="914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4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$</a:t>
            </a:r>
          </a:p>
        </p:txBody>
      </p:sp>
      <p:sp>
        <p:nvSpPr>
          <p:cNvPr id="8" name="free-subheading">
            <a:extLst xmlns:a="http://schemas.openxmlformats.org/drawingml/2006/main">
              <a:ext uri="{FF2B5EF4-FFF2-40B4-BE49-F238E27FC236}">
                <a16:creationId xmlns:a16="http://schemas.microsoft.com/office/drawing/2014/main" id="{95FE95FC-4586-4549-8073-46992D91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003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주요 기능 무료 이용</a:t>
            </a:r>
          </a:p>
        </p:txBody>
      </p:sp>
      <p:sp>
        <p:nvSpPr>
          <p:cNvPr id="9" name="free-body">
            <a:extLst xmlns:a="http://schemas.openxmlformats.org/drawingml/2006/main">
              <a:ext uri="{FF2B5EF4-FFF2-40B4-BE49-F238E27FC236}">
                <a16:creationId xmlns:a16="http://schemas.microsoft.com/office/drawing/2014/main" id="{A8463479-26C1-46A1-B09C-05EF06AC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228975"/>
            <a:ext cx="2114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7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핵심 기능과 기본 콘텐츠를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부담 없이 사용할 수 있습니다</a:t>
            </a:r>
          </a:p>
        </p:txBody>
      </p:sp>
      <p:sp>
        <p:nvSpPr>
          <p:cNvPr id="10" name="paid-subheading">
            <a:extLst xmlns:a="http://schemas.openxmlformats.org/drawingml/2006/main">
              <a:ext uri="{FF2B5EF4-FFF2-40B4-BE49-F238E27FC236}">
                <a16:creationId xmlns:a16="http://schemas.microsoft.com/office/drawing/2014/main" id="{9092336F-216A-4570-92CE-456891E3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003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프리미엄 5,000원 / 월</a:t>
            </a:r>
          </a:p>
        </p:txBody>
      </p:sp>
      <p:sp>
        <p:nvSpPr>
          <p:cNvPr id="11" name="paid-body">
            <a:extLst xmlns:a="http://schemas.openxmlformats.org/drawingml/2006/main">
              <a:ext uri="{FF2B5EF4-FFF2-40B4-BE49-F238E27FC236}">
                <a16:creationId xmlns:a16="http://schemas.microsoft.com/office/drawing/2014/main" id="{52F7FC19-A5F4-45AF-8BF7-7CBF8802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28975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유료 콘텐츠와 확장 기능을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더 풍부하게 이용할 수 있습니다</a:t>
            </a:r>
          </a:p>
        </p:txBody>
      </p:sp>
    </p:spTree>
    <p:extLst>
      <p:ext uri="{BB962C8B-B14F-4D97-AF65-F5344CB8AC3E}">
        <p14:creationId xmlns:p14="http://schemas.microsoft.com/office/powerpoint/2010/main" val="15700992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1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market-size-canvas-frame">
            <a:extLst xmlns:a="http://schemas.openxmlformats.org/drawingml/2006/main">
              <a:ext uri="{FF2B5EF4-FFF2-40B4-BE49-F238E27FC236}">
                <a16:creationId xmlns:a16="http://schemas.microsoft.com/office/drawing/2014/main" id="{08218DAE-55FE-4369-884D-5408B53C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97B7D"/>
            </a:solidFill>
            <a:prstDash val="solid"/>
          </a:ln>
        </p:spPr>
      </p:sp>
      <p:sp>
        <p:nvSpPr>
          <p:cNvPr id="2" name="title-keyword">
            <a:extLst xmlns:a="http://schemas.openxmlformats.org/drawingml/2006/main">
              <a:ext uri="{FF2B5EF4-FFF2-40B4-BE49-F238E27FC236}">
                <a16:creationId xmlns:a16="http://schemas.microsoft.com/office/drawing/2014/main" id="{6EDA4E9F-0627-4D8B-BF6B-5462E497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1076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Market</a:t>
            </a:r>
          </a:p>
        </p:txBody>
      </p:sp>
      <p:sp>
        <p:nvSpPr>
          <p:cNvPr id="3" name="title-suffix">
            <a:extLst xmlns:a="http://schemas.openxmlformats.org/drawingml/2006/main">
              <a:ext uri="{FF2B5EF4-FFF2-40B4-BE49-F238E27FC236}">
                <a16:creationId xmlns:a16="http://schemas.microsoft.com/office/drawing/2014/main" id="{A79E3DD4-FD26-4233-994D-E4FC8675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6250"/>
            <a:ext cx="742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2325" b="0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Size</a:t>
            </a:r>
          </a:p>
        </p:txBody>
      </p:sp>
      <p:sp>
        <p:nvSpPr>
          <p:cNvPr id="4" name="market-perimeter">
            <a:extLst xmlns:a="http://schemas.openxmlformats.org/drawingml/2006/main">
              <a:ext uri="{FF2B5EF4-FFF2-40B4-BE49-F238E27FC236}">
                <a16:creationId xmlns:a16="http://schemas.microsoft.com/office/drawing/2014/main" id="{8EAD83B2-34F3-4663-AC72-1883ABC7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209675"/>
            <a:ext cx="3181350" cy="3181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64EF0"/>
            </a:solidFill>
            <a:prstDash val="dot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3257550" y="1495425"/>
          <a:ext xmlns:a="http://schemas.openxmlformats.org/drawingml/2006/main" cx="2628900" cy="2628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46277d0f32406e"/>
          </a:graphicData>
        </a:graphic>
      </p:graphicFrame>
      <p:sp>
        <p:nvSpPr>
          <p:cNvPr id="6" name="market-left-leader">
            <a:extLst xmlns:a="http://schemas.openxmlformats.org/drawingml/2006/main">
              <a:ext uri="{FF2B5EF4-FFF2-40B4-BE49-F238E27FC236}">
                <a16:creationId xmlns:a16="http://schemas.microsoft.com/office/drawing/2014/main" id="{6B4C876D-E698-49F3-9043-7EC7B55F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95575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A1F4"/>
            </a:solidFill>
            <a:prstDash val="solid"/>
          </a:ln>
        </p:spPr>
      </p:sp>
      <p:sp>
        <p:nvSpPr>
          <p:cNvPr id="7" name="market-left-metric">
            <a:extLst xmlns:a="http://schemas.openxmlformats.org/drawingml/2006/main">
              <a:ext uri="{FF2B5EF4-FFF2-40B4-BE49-F238E27FC236}">
                <a16:creationId xmlns:a16="http://schemas.microsoft.com/office/drawing/2014/main" id="{5DE4C21C-20E9-432E-99D5-C88B74F3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543175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1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5459C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5459C4"/>
                </a:solidFill>
                <a:latin typeface="Apple SD Gothic Neo"/>
                <a:ea typeface="Apple SD Gothic Neo"/>
                <a:cs typeface="Apple SD Gothic Neo"/>
              </a:rPr>
              <a:t>41만 명</a:t>
            </a:r>
          </a:p>
        </p:txBody>
      </p:sp>
      <p:sp>
        <p:nvSpPr>
          <p:cNvPr id="8" name="market-left-label">
            <a:extLst xmlns:a="http://schemas.openxmlformats.org/drawingml/2006/main">
              <a:ext uri="{FF2B5EF4-FFF2-40B4-BE49-F238E27FC236}">
                <a16:creationId xmlns:a16="http://schemas.microsoft.com/office/drawing/2014/main" id="{BCCFA9E8-AEDD-41E1-AB5F-15E83638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2417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62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06264"/>
                </a:solidFill>
                <a:latin typeface="Apple SD Gothic Neo"/>
                <a:ea typeface="Apple SD Gothic Neo"/>
                <a:cs typeface="Apple SD Gothic Neo"/>
              </a:rPr>
              <a:t>핵심 고객군 A</a:t>
            </a:r>
          </a:p>
        </p:txBody>
      </p:sp>
      <p:sp>
        <p:nvSpPr>
          <p:cNvPr id="9" name="market-right-leader">
            <a:extLst xmlns:a="http://schemas.openxmlformats.org/drawingml/2006/main">
              <a:ext uri="{FF2B5EF4-FFF2-40B4-BE49-F238E27FC236}">
                <a16:creationId xmlns:a16="http://schemas.microsoft.com/office/drawing/2014/main" id="{B523C973-F8A4-44BF-8070-9E080BE8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24025"/>
            <a:ext cx="1590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A1F4"/>
            </a:solidFill>
            <a:prstDash val="solid"/>
          </a:ln>
        </p:spPr>
      </p:sp>
      <p:sp>
        <p:nvSpPr>
          <p:cNvPr id="10" name="market-right-metric">
            <a:extLst xmlns:a="http://schemas.openxmlformats.org/drawingml/2006/main">
              <a:ext uri="{FF2B5EF4-FFF2-40B4-BE49-F238E27FC236}">
                <a16:creationId xmlns:a16="http://schemas.microsoft.com/office/drawing/2014/main" id="{FC721157-EF6C-4C8D-B3CC-2960707F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54305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1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93A1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93A1F4"/>
                </a:solidFill>
                <a:latin typeface="Apple SD Gothic Neo"/>
                <a:ea typeface="Apple SD Gothic Neo"/>
                <a:cs typeface="Apple SD Gothic Neo"/>
              </a:rPr>
              <a:t>44만 명</a:t>
            </a:r>
          </a:p>
        </p:txBody>
      </p:sp>
      <p:sp>
        <p:nvSpPr>
          <p:cNvPr id="11" name="market-right-label">
            <a:extLst xmlns:a="http://schemas.openxmlformats.org/drawingml/2006/main">
              <a:ext uri="{FF2B5EF4-FFF2-40B4-BE49-F238E27FC236}">
                <a16:creationId xmlns:a16="http://schemas.microsoft.com/office/drawing/2014/main" id="{73B18117-7DAC-425C-A29E-894E89CD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4310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062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06264"/>
                </a:solidFill>
                <a:latin typeface="Apple SD Gothic Neo"/>
                <a:ea typeface="Apple SD Gothic Neo"/>
                <a:cs typeface="Apple SD Gothic Neo"/>
              </a:rPr>
              <a:t>핵심 고객군 B</a:t>
            </a:r>
          </a:p>
        </p:txBody>
      </p:sp>
      <p:sp>
        <p:nvSpPr>
          <p:cNvPr id="12" name="market-center-metric">
            <a:extLst xmlns:a="http://schemas.openxmlformats.org/drawingml/2006/main">
              <a:ext uri="{FF2B5EF4-FFF2-40B4-BE49-F238E27FC236}">
                <a16:creationId xmlns:a16="http://schemas.microsoft.com/office/drawing/2014/main" id="{B9D7A19F-5F77-475E-B8F6-22A91A46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19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50만 명+</a:t>
            </a:r>
          </a:p>
        </p:txBody>
      </p:sp>
      <p:sp>
        <p:nvSpPr>
          <p:cNvPr id="13" name="market-center-label">
            <a:extLst xmlns:a="http://schemas.openxmlformats.org/drawingml/2006/main">
              <a:ext uri="{FF2B5EF4-FFF2-40B4-BE49-F238E27FC236}">
                <a16:creationId xmlns:a16="http://schemas.microsoft.com/office/drawing/2014/main" id="{15F75D04-F202-479E-AD16-5C52E522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확장 고객군 C</a:t>
            </a:r>
          </a:p>
        </p:txBody>
      </p:sp>
    </p:spTree>
    <p:extLst>
      <p:ext uri="{BB962C8B-B14F-4D97-AF65-F5344CB8AC3E}">
        <p14:creationId xmlns:p14="http://schemas.microsoft.com/office/powerpoint/2010/main" val="3784318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1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unding-canvas-frame">
            <a:extLst xmlns:a="http://schemas.openxmlformats.org/drawingml/2006/main">
              <a:ext uri="{FF2B5EF4-FFF2-40B4-BE49-F238E27FC236}">
                <a16:creationId xmlns:a16="http://schemas.microsoft.com/office/drawing/2014/main" id="{85076A11-D26F-4839-BFF9-9ADA5474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97B7D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3138AE-7F27-487C-B910-259F6CE1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371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Investment Needed</a:t>
            </a:r>
          </a:p>
        </p:txBody>
      </p:sp>
      <p:sp>
        <p:nvSpPr>
          <p:cNvPr id="3" name="funding-total-bar">
            <a:extLst xmlns:a="http://schemas.openxmlformats.org/drawingml/2006/main">
              <a:ext uri="{FF2B5EF4-FFF2-40B4-BE49-F238E27FC236}">
                <a16:creationId xmlns:a16="http://schemas.microsoft.com/office/drawing/2014/main" id="{830BC2B8-60D6-4422-963C-7B0324AB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14475"/>
            <a:ext cx="81915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EF0"/>
          </a:solidFill>
          <a:ln xmlns:a="http://schemas.openxmlformats.org/drawingml/2006/main" w="0">
            <a:solidFill>
              <a:srgbClr val="364EF0"/>
            </a:solidFill>
            <a:prstDash val="solid"/>
          </a:ln>
        </p:spPr>
      </p:sp>
      <p:sp>
        <p:nvSpPr>
          <p:cNvPr id="4" name="funding-total">
            <a:extLst xmlns:a="http://schemas.openxmlformats.org/drawingml/2006/main">
              <a:ext uri="{FF2B5EF4-FFF2-40B4-BE49-F238E27FC236}">
                <a16:creationId xmlns:a16="http://schemas.microsoft.com/office/drawing/2014/main" id="{99021E20-95C3-4723-86FF-4FE30DF9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6687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6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50,000,000 원</a:t>
            </a:r>
          </a:p>
        </p:txBody>
      </p:sp>
      <p:sp>
        <p:nvSpPr>
          <p:cNvPr id="5" name="fixed-costs-allocation-box">
            <a:extLst xmlns:a="http://schemas.openxmlformats.org/drawingml/2006/main">
              <a:ext uri="{FF2B5EF4-FFF2-40B4-BE49-F238E27FC236}">
                <a16:creationId xmlns:a16="http://schemas.microsoft.com/office/drawing/2014/main" id="{3BB7E68C-9909-4173-809B-E7CFB26F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52675"/>
            <a:ext cx="3495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64EF0"/>
            </a:solidFill>
            <a:prstDash val="dash"/>
          </a:ln>
        </p:spPr>
      </p:sp>
      <p:sp>
        <p:nvSpPr>
          <p:cNvPr id="6" name="fixed-costs-percent">
            <a:extLst xmlns:a="http://schemas.openxmlformats.org/drawingml/2006/main">
              <a:ext uri="{FF2B5EF4-FFF2-40B4-BE49-F238E27FC236}">
                <a16:creationId xmlns:a16="http://schemas.microsoft.com/office/drawing/2014/main" id="{BA1F4F1D-6C4C-4F2C-BE14-C5A8859D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05100"/>
            <a:ext cx="3495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45%</a:t>
            </a:r>
          </a:p>
        </p:txBody>
      </p:sp>
      <p:sp>
        <p:nvSpPr>
          <p:cNvPr id="7" name="fixed-costs-heading">
            <a:extLst xmlns:a="http://schemas.openxmlformats.org/drawingml/2006/main">
              <a:ext uri="{FF2B5EF4-FFF2-40B4-BE49-F238E27FC236}">
                <a16:creationId xmlns:a16="http://schemas.microsoft.com/office/drawing/2014/main" id="{4E43DA49-3B6A-4077-8979-7AF24739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14725"/>
            <a:ext cx="3495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364EF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64EF0"/>
                </a:solidFill>
                <a:latin typeface="Apple SD Gothic Neo"/>
                <a:ea typeface="Apple SD Gothic Neo"/>
                <a:cs typeface="Apple SD Gothic Neo"/>
              </a:rPr>
              <a:t>고정지출</a:t>
            </a:r>
          </a:p>
        </p:txBody>
      </p:sp>
      <p:sp>
        <p:nvSpPr>
          <p:cNvPr id="8" name="fixed-costs-note">
            <a:extLst xmlns:a="http://schemas.openxmlformats.org/drawingml/2006/main">
              <a:ext uri="{FF2B5EF4-FFF2-40B4-BE49-F238E27FC236}">
                <a16:creationId xmlns:a16="http://schemas.microsoft.com/office/drawing/2014/main" id="{65745EA6-490A-44C2-8E07-9D3588DE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90950"/>
            <a:ext cx="3495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rPr>
              <a:t>임대료 · 인건비 · 서버비</a:t>
            </a:r>
          </a:p>
        </p:txBody>
      </p:sp>
      <p:sp>
        <p:nvSpPr>
          <p:cNvPr id="9" name="marketing-allocation-box">
            <a:extLst xmlns:a="http://schemas.openxmlformats.org/drawingml/2006/main">
              <a:ext uri="{FF2B5EF4-FFF2-40B4-BE49-F238E27FC236}">
                <a16:creationId xmlns:a16="http://schemas.microsoft.com/office/drawing/2014/main" id="{E1D99AB7-7A80-4AEF-9B55-0490DCF6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352675"/>
            <a:ext cx="24003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64EF0"/>
            </a:solidFill>
            <a:prstDash val="dash"/>
          </a:ln>
        </p:spPr>
      </p:sp>
      <p:sp>
        <p:nvSpPr>
          <p:cNvPr id="10" name="marketing-percent">
            <a:extLst xmlns:a="http://schemas.openxmlformats.org/drawingml/2006/main">
              <a:ext uri="{FF2B5EF4-FFF2-40B4-BE49-F238E27FC236}">
                <a16:creationId xmlns:a16="http://schemas.microsoft.com/office/drawing/2014/main" id="{B526E0B2-C7C3-46CD-A2E7-5837EDF0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7051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30%</a:t>
            </a:r>
          </a:p>
        </p:txBody>
      </p:sp>
      <p:sp>
        <p:nvSpPr>
          <p:cNvPr id="11" name="marketing-heading">
            <a:extLst xmlns:a="http://schemas.openxmlformats.org/drawingml/2006/main">
              <a:ext uri="{FF2B5EF4-FFF2-40B4-BE49-F238E27FC236}">
                <a16:creationId xmlns:a16="http://schemas.microsoft.com/office/drawing/2014/main" id="{71250CAB-3F95-48A2-862B-A3B5B41E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51472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364EF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64EF0"/>
                </a:solidFill>
                <a:latin typeface="Apple SD Gothic Neo"/>
                <a:ea typeface="Apple SD Gothic Neo"/>
                <a:cs typeface="Apple SD Gothic Neo"/>
              </a:rPr>
              <a:t>광고비</a:t>
            </a:r>
          </a:p>
        </p:txBody>
      </p:sp>
      <p:sp>
        <p:nvSpPr>
          <p:cNvPr id="12" name="marketing-note">
            <a:extLst xmlns:a="http://schemas.openxmlformats.org/drawingml/2006/main">
              <a:ext uri="{FF2B5EF4-FFF2-40B4-BE49-F238E27FC236}">
                <a16:creationId xmlns:a16="http://schemas.microsoft.com/office/drawing/2014/main" id="{C9A833CD-5816-4A1C-A410-043F4A9B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79095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rPr>
              <a:t>검색 · 소셜 · 영상 광고</a:t>
            </a:r>
          </a:p>
        </p:txBody>
      </p:sp>
      <p:sp>
        <p:nvSpPr>
          <p:cNvPr id="13" name="content-rights-allocation-box">
            <a:extLst xmlns:a="http://schemas.openxmlformats.org/drawingml/2006/main">
              <a:ext uri="{FF2B5EF4-FFF2-40B4-BE49-F238E27FC236}">
                <a16:creationId xmlns:a16="http://schemas.microsoft.com/office/drawing/2014/main" id="{5A555EF8-53FF-46E3-A19B-C4B5DD37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52675"/>
            <a:ext cx="22955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64EF0"/>
            </a:solidFill>
            <a:prstDash val="dash"/>
          </a:ln>
        </p:spPr>
      </p:sp>
      <p:sp>
        <p:nvSpPr>
          <p:cNvPr id="14" name="content-rights-percent">
            <a:extLst xmlns:a="http://schemas.openxmlformats.org/drawingml/2006/main">
              <a:ext uri="{FF2B5EF4-FFF2-40B4-BE49-F238E27FC236}">
                <a16:creationId xmlns:a16="http://schemas.microsoft.com/office/drawing/2014/main" id="{5A0D3F44-C477-48F6-9186-F82C4781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05100"/>
            <a:ext cx="2295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25%</a:t>
            </a:r>
          </a:p>
        </p:txBody>
      </p:sp>
      <p:sp>
        <p:nvSpPr>
          <p:cNvPr id="15" name="content-rights-heading">
            <a:extLst xmlns:a="http://schemas.openxmlformats.org/drawingml/2006/main">
              <a:ext uri="{FF2B5EF4-FFF2-40B4-BE49-F238E27FC236}">
                <a16:creationId xmlns:a16="http://schemas.microsoft.com/office/drawing/2014/main" id="{68667487-972B-4C81-AA0B-3036373B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514725"/>
            <a:ext cx="2295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364EF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64EF0"/>
                </a:solidFill>
                <a:latin typeface="Apple SD Gothic Neo"/>
                <a:ea typeface="Apple SD Gothic Neo"/>
                <a:cs typeface="Apple SD Gothic Neo"/>
              </a:rPr>
              <a:t>콘텐츠 저작권</a:t>
            </a:r>
          </a:p>
        </p:txBody>
      </p:sp>
      <p:sp>
        <p:nvSpPr>
          <p:cNvPr id="16" name="content-rights-note">
            <a:extLst xmlns:a="http://schemas.openxmlformats.org/drawingml/2006/main">
              <a:ext uri="{FF2B5EF4-FFF2-40B4-BE49-F238E27FC236}">
                <a16:creationId xmlns:a16="http://schemas.microsoft.com/office/drawing/2014/main" id="{A419922A-858D-456F-A981-B332D1CD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790950"/>
            <a:ext cx="2295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rPr>
              <a:t>유료 콘텐츠 이용료</a:t>
            </a:r>
          </a:p>
        </p:txBody>
      </p:sp>
    </p:spTree>
    <p:extLst>
      <p:ext uri="{BB962C8B-B14F-4D97-AF65-F5344CB8AC3E}">
        <p14:creationId xmlns:p14="http://schemas.microsoft.com/office/powerpoint/2010/main" val="18415094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1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am-canvas-frame">
            <a:extLst xmlns:a="http://schemas.openxmlformats.org/drawingml/2006/main">
              <a:ext uri="{FF2B5EF4-FFF2-40B4-BE49-F238E27FC236}">
                <a16:creationId xmlns:a16="http://schemas.microsoft.com/office/drawing/2014/main" id="{0A048CCD-E194-4739-BD3E-05B53E5F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97B7D"/>
            </a:solidFill>
            <a:prstDash val="solid"/>
          </a:ln>
        </p:spPr>
      </p:sp>
      <p:sp>
        <p:nvSpPr>
          <p:cNvPr id="2" name="title-prefix">
            <a:extLst xmlns:a="http://schemas.openxmlformats.org/drawingml/2006/main">
              <a:ext uri="{FF2B5EF4-FFF2-40B4-BE49-F238E27FC236}">
                <a16:creationId xmlns:a16="http://schemas.microsoft.com/office/drawing/2014/main" id="{F775F948-7A86-4315-B64B-251D8895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581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2325" b="0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Our</a:t>
            </a:r>
          </a:p>
        </p:txBody>
      </p:sp>
      <p:sp>
        <p:nvSpPr>
          <p:cNvPr id="3" name="title-keyword">
            <a:extLst xmlns:a="http://schemas.openxmlformats.org/drawingml/2006/main">
              <a:ext uri="{FF2B5EF4-FFF2-40B4-BE49-F238E27FC236}">
                <a16:creationId xmlns:a16="http://schemas.microsoft.com/office/drawing/2014/main" id="{2A140902-DDE4-4DEF-93F2-D50A1545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"/>
            <a:ext cx="106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Team</a:t>
            </a:r>
          </a:p>
        </p:txBody>
      </p:sp>
      <p:sp>
        <p:nvSpPr>
          <p:cNvPr id="4" name="team-photo-1">
            <a:extLst xmlns:a="http://schemas.openxmlformats.org/drawingml/2006/main">
              <a:ext uri="{FF2B5EF4-FFF2-40B4-BE49-F238E27FC236}">
                <a16:creationId xmlns:a16="http://schemas.microsoft.com/office/drawing/2014/main" id="{1229CF0D-DA43-45BD-8392-CEC5D69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038225"/>
            <a:ext cx="95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5" name="team-photo-label-1">
            <a:extLst xmlns:a="http://schemas.openxmlformats.org/drawingml/2006/main">
              <a:ext uri="{FF2B5EF4-FFF2-40B4-BE49-F238E27FC236}">
                <a16:creationId xmlns:a16="http://schemas.microsoft.com/office/drawing/2014/main" id="{9B5FBB02-5339-4830-996C-9661D8CB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4302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6" name="team-name-1">
            <a:extLst xmlns:a="http://schemas.openxmlformats.org/drawingml/2006/main">
              <a:ext uri="{FF2B5EF4-FFF2-40B4-BE49-F238E27FC236}">
                <a16:creationId xmlns:a16="http://schemas.microsoft.com/office/drawing/2014/main" id="{5BDEE382-C0DC-4B95-B6F6-876CD492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478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6062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264"/>
                </a:solidFill>
                <a:latin typeface="Apple SD Gothic Neo"/>
                <a:ea typeface="Apple SD Gothic Neo"/>
                <a:cs typeface="Apple SD Gothic Neo"/>
              </a:rPr>
              <a:t>멤버 1</a:t>
            </a:r>
          </a:p>
        </p:txBody>
      </p:sp>
      <p:sp>
        <p:nvSpPr>
          <p:cNvPr id="7" name="team-role-1">
            <a:extLst xmlns:a="http://schemas.openxmlformats.org/drawingml/2006/main">
              <a:ext uri="{FF2B5EF4-FFF2-40B4-BE49-F238E27FC236}">
                <a16:creationId xmlns:a16="http://schemas.microsoft.com/office/drawing/2014/main" id="{C086A6AF-C8B7-4171-9565-2BE1AA88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63" b="0">
                <a:solidFill>
                  <a:srgbClr val="3A3CB6"/>
                </a:solidFill>
                <a:latin typeface="Avenir Next"/>
                <a:ea typeface="Avenir Next"/>
                <a:cs typeface="Avenir Next"/>
              </a:defRPr>
            </a:pPr>
            <a:r>
              <a:rPr sz="1163" b="0">
                <a:solidFill>
                  <a:srgbClr val="3A3CB6"/>
                </a:solidFill>
                <a:latin typeface="Avenir Next"/>
                <a:ea typeface="Avenir Next"/>
                <a:cs typeface="Avenir Next"/>
              </a:rPr>
              <a:t>CEO / Co-Founder</a:t>
            </a:r>
          </a:p>
        </p:txBody>
      </p:sp>
      <p:sp>
        <p:nvSpPr>
          <p:cNvPr id="8" name="team-photo-2">
            <a:extLst xmlns:a="http://schemas.openxmlformats.org/drawingml/2006/main">
              <a:ext uri="{FF2B5EF4-FFF2-40B4-BE49-F238E27FC236}">
                <a16:creationId xmlns:a16="http://schemas.microsoft.com/office/drawing/2014/main" id="{2205E1E6-4900-4794-94AD-39B0FB0C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0382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9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9" name="team-photo-label-2">
            <a:extLst xmlns:a="http://schemas.openxmlformats.org/drawingml/2006/main">
              <a:ext uri="{FF2B5EF4-FFF2-40B4-BE49-F238E27FC236}">
                <a16:creationId xmlns:a16="http://schemas.microsoft.com/office/drawing/2014/main" id="{EE932893-7543-45F6-9BF5-DC3900BE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34302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team-name-2">
            <a:extLst xmlns:a="http://schemas.openxmlformats.org/drawingml/2006/main">
              <a:ext uri="{FF2B5EF4-FFF2-40B4-BE49-F238E27FC236}">
                <a16:creationId xmlns:a16="http://schemas.microsoft.com/office/drawing/2014/main" id="{E231C918-89C3-4EE3-BE41-42439A22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0478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6062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264"/>
                </a:solidFill>
                <a:latin typeface="Apple SD Gothic Neo"/>
                <a:ea typeface="Apple SD Gothic Neo"/>
                <a:cs typeface="Apple SD Gothic Neo"/>
              </a:rPr>
              <a:t>멤버 2</a:t>
            </a:r>
          </a:p>
        </p:txBody>
      </p:sp>
      <p:sp>
        <p:nvSpPr>
          <p:cNvPr id="11" name="team-role-2">
            <a:extLst xmlns:a="http://schemas.openxmlformats.org/drawingml/2006/main">
              <a:ext uri="{FF2B5EF4-FFF2-40B4-BE49-F238E27FC236}">
                <a16:creationId xmlns:a16="http://schemas.microsoft.com/office/drawing/2014/main" id="{AA946EB5-66C1-48A6-933C-607C9EB1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43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63" b="0">
                <a:solidFill>
                  <a:srgbClr val="3A3CB6"/>
                </a:solidFill>
                <a:latin typeface="Avenir Next"/>
                <a:ea typeface="Avenir Next"/>
                <a:cs typeface="Avenir Next"/>
              </a:defRPr>
            </a:pPr>
            <a:r>
              <a:rPr sz="1163" b="0">
                <a:solidFill>
                  <a:srgbClr val="3A3CB6"/>
                </a:solidFill>
                <a:latin typeface="Avenir Next"/>
                <a:ea typeface="Avenir Next"/>
                <a:cs typeface="Avenir Next"/>
              </a:rPr>
              <a:t>CTO / Co-Founder</a:t>
            </a:r>
          </a:p>
        </p:txBody>
      </p:sp>
      <p:sp>
        <p:nvSpPr>
          <p:cNvPr id="12" name="team-photo-3">
            <a:extLst xmlns:a="http://schemas.openxmlformats.org/drawingml/2006/main">
              <a:ext uri="{FF2B5EF4-FFF2-40B4-BE49-F238E27FC236}">
                <a16:creationId xmlns:a16="http://schemas.microsoft.com/office/drawing/2014/main" id="{C5F52C95-213D-4AA0-98E6-C442EF71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0382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3" name="team-photo-label-3">
            <a:extLst xmlns:a="http://schemas.openxmlformats.org/drawingml/2006/main">
              <a:ext uri="{FF2B5EF4-FFF2-40B4-BE49-F238E27FC236}">
                <a16:creationId xmlns:a16="http://schemas.microsoft.com/office/drawing/2014/main" id="{386C5CDF-95F1-4A13-9297-EDEFF89F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34302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4" name="team-name-3">
            <a:extLst xmlns:a="http://schemas.openxmlformats.org/drawingml/2006/main">
              <a:ext uri="{FF2B5EF4-FFF2-40B4-BE49-F238E27FC236}">
                <a16:creationId xmlns:a16="http://schemas.microsoft.com/office/drawing/2014/main" id="{3E42D771-831A-494A-96C1-E9B276AB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478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6062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264"/>
                </a:solidFill>
                <a:latin typeface="Apple SD Gothic Neo"/>
                <a:ea typeface="Apple SD Gothic Neo"/>
                <a:cs typeface="Apple SD Gothic Neo"/>
              </a:rPr>
              <a:t>멤버 3</a:t>
            </a:r>
          </a:p>
        </p:txBody>
      </p:sp>
      <p:sp>
        <p:nvSpPr>
          <p:cNvPr id="15" name="team-role-3">
            <a:extLst xmlns:a="http://schemas.openxmlformats.org/drawingml/2006/main">
              <a:ext uri="{FF2B5EF4-FFF2-40B4-BE49-F238E27FC236}">
                <a16:creationId xmlns:a16="http://schemas.microsoft.com/office/drawing/2014/main" id="{D0D37069-9AD9-46EA-9983-CFF581D5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43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63" b="0">
                <a:solidFill>
                  <a:srgbClr val="3A3CB6"/>
                </a:solidFill>
                <a:latin typeface="Avenir Next"/>
                <a:ea typeface="Avenir Next"/>
                <a:cs typeface="Avenir Next"/>
              </a:defRPr>
            </a:pPr>
            <a:r>
              <a:rPr sz="1163" b="0">
                <a:solidFill>
                  <a:srgbClr val="3A3CB6"/>
                </a:solidFill>
                <a:latin typeface="Avenir Next"/>
                <a:ea typeface="Avenir Next"/>
                <a:cs typeface="Avenir Next"/>
              </a:rPr>
              <a:t>Designer</a:t>
            </a:r>
          </a:p>
        </p:txBody>
      </p:sp>
      <p:sp>
        <p:nvSpPr>
          <p:cNvPr id="16" name="team-photo-4">
            <a:extLst xmlns:a="http://schemas.openxmlformats.org/drawingml/2006/main">
              <a:ext uri="{FF2B5EF4-FFF2-40B4-BE49-F238E27FC236}">
                <a16:creationId xmlns:a16="http://schemas.microsoft.com/office/drawing/2014/main" id="{073F8FCA-0325-4AE4-B2E4-8AD76120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0382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9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7" name="team-photo-label-4">
            <a:extLst xmlns:a="http://schemas.openxmlformats.org/drawingml/2006/main">
              <a:ext uri="{FF2B5EF4-FFF2-40B4-BE49-F238E27FC236}">
                <a16:creationId xmlns:a16="http://schemas.microsoft.com/office/drawing/2014/main" id="{A3CEA1F9-A3A2-47C1-8C5C-DE95CBAC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34302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8" name="team-name-4">
            <a:extLst xmlns:a="http://schemas.openxmlformats.org/drawingml/2006/main">
              <a:ext uri="{FF2B5EF4-FFF2-40B4-BE49-F238E27FC236}">
                <a16:creationId xmlns:a16="http://schemas.microsoft.com/office/drawing/2014/main" id="{9331C75C-AE44-4A9C-AD7A-3E70270C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0478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6062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264"/>
                </a:solidFill>
                <a:latin typeface="Apple SD Gothic Neo"/>
                <a:ea typeface="Apple SD Gothic Neo"/>
                <a:cs typeface="Apple SD Gothic Neo"/>
              </a:rPr>
              <a:t>멤버 4</a:t>
            </a:r>
          </a:p>
        </p:txBody>
      </p:sp>
      <p:sp>
        <p:nvSpPr>
          <p:cNvPr id="19" name="team-role-4">
            <a:extLst xmlns:a="http://schemas.openxmlformats.org/drawingml/2006/main">
              <a:ext uri="{FF2B5EF4-FFF2-40B4-BE49-F238E27FC236}">
                <a16:creationId xmlns:a16="http://schemas.microsoft.com/office/drawing/2014/main" id="{5A0425FE-DEBB-43F6-97AD-F9FD2E95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63" b="0">
                <a:solidFill>
                  <a:srgbClr val="3A3CB6"/>
                </a:solidFill>
                <a:latin typeface="Avenir Next"/>
                <a:ea typeface="Avenir Next"/>
                <a:cs typeface="Avenir Next"/>
              </a:defRPr>
            </a:pPr>
            <a:r>
              <a:rPr sz="1163" b="0">
                <a:solidFill>
                  <a:srgbClr val="3A3CB6"/>
                </a:solidFill>
                <a:latin typeface="Avenir Next"/>
                <a:ea typeface="Avenir Next"/>
                <a:cs typeface="Avenir Next"/>
              </a:rPr>
              <a:t>Developer</a:t>
            </a:r>
          </a:p>
        </p:txBody>
      </p:sp>
      <p:sp>
        <p:nvSpPr>
          <p:cNvPr id="20" name="team-photo-5">
            <a:extLst xmlns:a="http://schemas.openxmlformats.org/drawingml/2006/main">
              <a:ext uri="{FF2B5EF4-FFF2-40B4-BE49-F238E27FC236}">
                <a16:creationId xmlns:a16="http://schemas.microsoft.com/office/drawing/2014/main" id="{4734A89A-A78F-41B4-B412-59825388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0382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1" name="team-photo-label-5">
            <a:extLst xmlns:a="http://schemas.openxmlformats.org/drawingml/2006/main">
              <a:ext uri="{FF2B5EF4-FFF2-40B4-BE49-F238E27FC236}">
                <a16:creationId xmlns:a16="http://schemas.microsoft.com/office/drawing/2014/main" id="{9C929373-B357-4A60-9841-EB972F1F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343025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2" name="team-name-5">
            <a:extLst xmlns:a="http://schemas.openxmlformats.org/drawingml/2006/main">
              <a:ext uri="{FF2B5EF4-FFF2-40B4-BE49-F238E27FC236}">
                <a16:creationId xmlns:a16="http://schemas.microsoft.com/office/drawing/2014/main" id="{DE5271E3-BD50-4F25-8805-5B1B8064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478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60626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6264"/>
                </a:solidFill>
                <a:latin typeface="Apple SD Gothic Neo"/>
                <a:ea typeface="Apple SD Gothic Neo"/>
                <a:cs typeface="Apple SD Gothic Neo"/>
              </a:rPr>
              <a:t>멤버 5</a:t>
            </a:r>
          </a:p>
        </p:txBody>
      </p:sp>
      <p:sp>
        <p:nvSpPr>
          <p:cNvPr id="23" name="team-role-5">
            <a:extLst xmlns:a="http://schemas.openxmlformats.org/drawingml/2006/main">
              <a:ext uri="{FF2B5EF4-FFF2-40B4-BE49-F238E27FC236}">
                <a16:creationId xmlns:a16="http://schemas.microsoft.com/office/drawing/2014/main" id="{B444F190-E307-477F-B35E-75EEAD48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43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63" b="0">
                <a:solidFill>
                  <a:srgbClr val="3A3CB6"/>
                </a:solidFill>
                <a:latin typeface="Avenir Next"/>
                <a:ea typeface="Avenir Next"/>
                <a:cs typeface="Avenir Next"/>
              </a:defRPr>
            </a:pPr>
            <a:r>
              <a:rPr sz="1163" b="0">
                <a:solidFill>
                  <a:srgbClr val="3A3CB6"/>
                </a:solidFill>
                <a:latin typeface="Avenir Next"/>
                <a:ea typeface="Avenir Next"/>
                <a:cs typeface="Avenir Next"/>
              </a:rPr>
              <a:t>Developer</a:t>
            </a:r>
          </a:p>
        </p:txBody>
      </p:sp>
      <p:sp>
        <p:nvSpPr>
          <p:cNvPr id="24" name="team-capability">
            <a:extLst xmlns:a="http://schemas.openxmlformats.org/drawingml/2006/main">
              <a:ext uri="{FF2B5EF4-FFF2-40B4-BE49-F238E27FC236}">
                <a16:creationId xmlns:a16="http://schemas.microsoft.com/office/drawing/2014/main" id="{6CB1784A-9D2E-43FF-9827-42CC066E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765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333333"/>
                </a:solidFill>
                <a:latin typeface="Apple SD Gothic Neo"/>
                <a:ea typeface="Apple SD Gothic Neo"/>
                <a:cs typeface="Apple SD Gothic Neo"/>
              </a:rPr>
              <a:t>팀의 핵심 역량과 함께 해결할 문제를 한 문장으로 정리합니다.</a:t>
            </a:r>
          </a:p>
        </p:txBody>
      </p:sp>
    </p:spTree>
    <p:extLst>
      <p:ext uri="{BB962C8B-B14F-4D97-AF65-F5344CB8AC3E}">
        <p14:creationId xmlns:p14="http://schemas.microsoft.com/office/powerpoint/2010/main" val="15130665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1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roadmap-canvas-frame">
            <a:extLst xmlns:a="http://schemas.openxmlformats.org/drawingml/2006/main">
              <a:ext uri="{FF2B5EF4-FFF2-40B4-BE49-F238E27FC236}">
                <a16:creationId xmlns:a16="http://schemas.microsoft.com/office/drawing/2014/main" id="{7C1DD5C9-9819-4F6B-89EA-A55F0FCE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97B7D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B9DE04-AC4F-46D7-A88E-0466967B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238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Road Map</a:t>
            </a:r>
          </a:p>
        </p:txBody>
      </p:sp>
      <p:sp>
        <p:nvSpPr>
          <p:cNvPr id="3" name="roadmap-baseline">
            <a:extLst xmlns:a="http://schemas.openxmlformats.org/drawingml/2006/main">
              <a:ext uri="{FF2B5EF4-FFF2-40B4-BE49-F238E27FC236}">
                <a16:creationId xmlns:a16="http://schemas.microsoft.com/office/drawing/2014/main" id="{EF295BC0-26D2-4AFE-A949-3E122A9C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09900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E3EA"/>
            </a:solidFill>
            <a:prstDash val="solid"/>
          </a:ln>
        </p:spPr>
      </p:sp>
      <p:sp>
        <p:nvSpPr>
          <p:cNvPr id="4" name="roadmap-stem-1">
            <a:extLst xmlns:a="http://schemas.openxmlformats.org/drawingml/2006/main">
              <a:ext uri="{FF2B5EF4-FFF2-40B4-BE49-F238E27FC236}">
                <a16:creationId xmlns:a16="http://schemas.microsoft.com/office/drawing/2014/main" id="{4E0314CF-6DBB-4852-B9FF-25BB30FE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009900"/>
            <a:ext cx="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A1F4"/>
            </a:solidFill>
            <a:prstDash val="solid"/>
          </a:ln>
        </p:spPr>
      </p:sp>
      <p:sp>
        <p:nvSpPr>
          <p:cNvPr id="5" name="roadmap-halo-1">
            <a:extLst xmlns:a="http://schemas.openxmlformats.org/drawingml/2006/main">
              <a:ext uri="{FF2B5EF4-FFF2-40B4-BE49-F238E27FC236}">
                <a16:creationId xmlns:a16="http://schemas.microsoft.com/office/drawing/2014/main" id="{457D180B-FB40-4454-9169-CA097D3D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95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6" name="roadmap-node-1">
            <a:extLst xmlns:a="http://schemas.openxmlformats.org/drawingml/2006/main">
              <a:ext uri="{FF2B5EF4-FFF2-40B4-BE49-F238E27FC236}">
                <a16:creationId xmlns:a16="http://schemas.microsoft.com/office/drawing/2014/main" id="{01D5B465-B4C8-42E1-91F1-F2AC8992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6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EF0"/>
          </a:solidFill>
          <a:ln xmlns:a="http://schemas.openxmlformats.org/drawingml/2006/main" w="0">
            <a:solidFill>
              <a:srgbClr val="364EF0"/>
            </a:solidFill>
            <a:prstDash val="solid"/>
          </a:ln>
        </p:spPr>
      </p:sp>
      <p:sp>
        <p:nvSpPr>
          <p:cNvPr id="7" name="roadmap-date-1">
            <a:extLst xmlns:a="http://schemas.openxmlformats.org/drawingml/2006/main">
              <a:ext uri="{FF2B5EF4-FFF2-40B4-BE49-F238E27FC236}">
                <a16:creationId xmlns:a16="http://schemas.microsoft.com/office/drawing/2014/main" id="{1CDEE9F2-E23D-4799-BB94-02699DC9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724150"/>
            <a:ext cx="590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563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M1</a:t>
            </a:r>
          </a:p>
        </p:txBody>
      </p:sp>
      <p:sp>
        <p:nvSpPr>
          <p:cNvPr id="8" name="roadmap-heading-1">
            <a:extLst xmlns:a="http://schemas.openxmlformats.org/drawingml/2006/main">
              <a:ext uri="{FF2B5EF4-FFF2-40B4-BE49-F238E27FC236}">
                <a16:creationId xmlns:a16="http://schemas.microsoft.com/office/drawing/2014/main" id="{6B884375-1762-43B2-A4D8-B64A29DF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528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Beta launch</a:t>
            </a:r>
          </a:p>
        </p:txBody>
      </p:sp>
      <p:sp>
        <p:nvSpPr>
          <p:cNvPr id="9" name="roadmap-body-1">
            <a:extLst xmlns:a="http://schemas.openxmlformats.org/drawingml/2006/main">
              <a:ext uri="{FF2B5EF4-FFF2-40B4-BE49-F238E27FC236}">
                <a16:creationId xmlns:a16="http://schemas.microsoft.com/office/drawing/2014/main" id="{223E88EE-8360-4CB6-854D-F296C49D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81425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rPr>
              <a:t>첫 사용자 확보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rPr>
              <a:t>기본 기능 검증</a:t>
            </a:r>
          </a:p>
        </p:txBody>
      </p:sp>
      <p:sp>
        <p:nvSpPr>
          <p:cNvPr id="10" name="roadmap-stem-2">
            <a:extLst xmlns:a="http://schemas.openxmlformats.org/drawingml/2006/main">
              <a:ext uri="{FF2B5EF4-FFF2-40B4-BE49-F238E27FC236}">
                <a16:creationId xmlns:a16="http://schemas.microsoft.com/office/drawing/2014/main" id="{1CC3770A-5C90-479E-B023-1AAADE3A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24025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A1F4"/>
            </a:solidFill>
            <a:prstDash val="solid"/>
          </a:ln>
        </p:spPr>
      </p:sp>
      <p:sp>
        <p:nvSpPr>
          <p:cNvPr id="11" name="roadmap-halo-2">
            <a:extLst xmlns:a="http://schemas.openxmlformats.org/drawingml/2006/main">
              <a:ext uri="{FF2B5EF4-FFF2-40B4-BE49-F238E27FC236}">
                <a16:creationId xmlns:a16="http://schemas.microsoft.com/office/drawing/2014/main" id="{DE3F4EE4-FAC4-4CB7-B8AC-6DDF1C9C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95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2" name="roadmap-node-2">
            <a:extLst xmlns:a="http://schemas.openxmlformats.org/drawingml/2006/main">
              <a:ext uri="{FF2B5EF4-FFF2-40B4-BE49-F238E27FC236}">
                <a16:creationId xmlns:a16="http://schemas.microsoft.com/office/drawing/2014/main" id="{1C2B06E0-6907-403A-8C3C-0FAFC145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6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EF0"/>
          </a:solidFill>
          <a:ln xmlns:a="http://schemas.openxmlformats.org/drawingml/2006/main" w="0">
            <a:solidFill>
              <a:srgbClr val="364EF0"/>
            </a:solidFill>
            <a:prstDash val="solid"/>
          </a:ln>
        </p:spPr>
      </p:sp>
      <p:sp>
        <p:nvSpPr>
          <p:cNvPr id="13" name="roadmap-date-2">
            <a:extLst xmlns:a="http://schemas.openxmlformats.org/drawingml/2006/main">
              <a:ext uri="{FF2B5EF4-FFF2-40B4-BE49-F238E27FC236}">
                <a16:creationId xmlns:a16="http://schemas.microsoft.com/office/drawing/2014/main" id="{CFA945CD-09D9-4D75-B05A-502E7BE2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2415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63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M2</a:t>
            </a:r>
          </a:p>
        </p:txBody>
      </p:sp>
      <p:sp>
        <p:nvSpPr>
          <p:cNvPr id="14" name="roadmap-heading-2">
            <a:extLst xmlns:a="http://schemas.openxmlformats.org/drawingml/2006/main">
              <a:ext uri="{FF2B5EF4-FFF2-40B4-BE49-F238E27FC236}">
                <a16:creationId xmlns:a16="http://schemas.microsoft.com/office/drawing/2014/main" id="{D65D65C3-EE18-479F-838E-2AFF6473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335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Pilot 1</a:t>
            </a:r>
          </a:p>
        </p:txBody>
      </p:sp>
      <p:sp>
        <p:nvSpPr>
          <p:cNvPr id="15" name="roadmap-body-2">
            <a:extLst xmlns:a="http://schemas.openxmlformats.org/drawingml/2006/main">
              <a:ext uri="{FF2B5EF4-FFF2-40B4-BE49-F238E27FC236}">
                <a16:creationId xmlns:a16="http://schemas.microsoft.com/office/drawing/2014/main" id="{16E16BE0-6695-4449-BC77-AE062341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62150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rPr>
              <a:t>핵심 지표 확인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rPr>
              <a:t>피드백 반영</a:t>
            </a:r>
          </a:p>
        </p:txBody>
      </p:sp>
      <p:sp>
        <p:nvSpPr>
          <p:cNvPr id="16" name="roadmap-stem-3">
            <a:extLst xmlns:a="http://schemas.openxmlformats.org/drawingml/2006/main">
              <a:ext uri="{FF2B5EF4-FFF2-40B4-BE49-F238E27FC236}">
                <a16:creationId xmlns:a16="http://schemas.microsoft.com/office/drawing/2014/main" id="{421084F5-7682-4D37-AF02-3171DC82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009900"/>
            <a:ext cx="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A1F4"/>
            </a:solidFill>
            <a:prstDash val="solid"/>
          </a:ln>
        </p:spPr>
      </p:sp>
      <p:sp>
        <p:nvSpPr>
          <p:cNvPr id="17" name="roadmap-halo-3">
            <a:extLst xmlns:a="http://schemas.openxmlformats.org/drawingml/2006/main">
              <a:ext uri="{FF2B5EF4-FFF2-40B4-BE49-F238E27FC236}">
                <a16:creationId xmlns:a16="http://schemas.microsoft.com/office/drawing/2014/main" id="{296FA3BE-6483-4C43-98A2-15E5417B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95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8" name="roadmap-node-3">
            <a:extLst xmlns:a="http://schemas.openxmlformats.org/drawingml/2006/main">
              <a:ext uri="{FF2B5EF4-FFF2-40B4-BE49-F238E27FC236}">
                <a16:creationId xmlns:a16="http://schemas.microsoft.com/office/drawing/2014/main" id="{29BF9EE0-6E1F-47DF-8A04-B02B295D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6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EF0"/>
          </a:solidFill>
          <a:ln xmlns:a="http://schemas.openxmlformats.org/drawingml/2006/main" w="0">
            <a:solidFill>
              <a:srgbClr val="364EF0"/>
            </a:solidFill>
            <a:prstDash val="solid"/>
          </a:ln>
        </p:spPr>
      </p:sp>
      <p:sp>
        <p:nvSpPr>
          <p:cNvPr id="19" name="roadmap-date-3">
            <a:extLst xmlns:a="http://schemas.openxmlformats.org/drawingml/2006/main">
              <a:ext uri="{FF2B5EF4-FFF2-40B4-BE49-F238E27FC236}">
                <a16:creationId xmlns:a16="http://schemas.microsoft.com/office/drawing/2014/main" id="{C304AF08-1F9A-416C-AE55-ECEC9051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24150"/>
            <a:ext cx="590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563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M3</a:t>
            </a:r>
          </a:p>
        </p:txBody>
      </p:sp>
      <p:sp>
        <p:nvSpPr>
          <p:cNvPr id="20" name="roadmap-heading-3">
            <a:extLst xmlns:a="http://schemas.openxmlformats.org/drawingml/2006/main">
              <a:ext uri="{FF2B5EF4-FFF2-40B4-BE49-F238E27FC236}">
                <a16:creationId xmlns:a16="http://schemas.microsoft.com/office/drawing/2014/main" id="{FA316AB4-3A28-4938-8182-3677C3FD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528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Official launch</a:t>
            </a:r>
          </a:p>
        </p:txBody>
      </p:sp>
      <p:sp>
        <p:nvSpPr>
          <p:cNvPr id="21" name="roadmap-body-3">
            <a:extLst xmlns:a="http://schemas.openxmlformats.org/drawingml/2006/main">
              <a:ext uri="{FF2B5EF4-FFF2-40B4-BE49-F238E27FC236}">
                <a16:creationId xmlns:a16="http://schemas.microsoft.com/office/drawing/2014/main" id="{07B93488-5C98-4C04-91C6-47EAFDE9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781425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rPr>
              <a:t>서비스 공개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rPr>
              <a:t>사용자 확대</a:t>
            </a:r>
          </a:p>
        </p:txBody>
      </p:sp>
      <p:sp>
        <p:nvSpPr>
          <p:cNvPr id="22" name="roadmap-stem-4">
            <a:extLst xmlns:a="http://schemas.openxmlformats.org/drawingml/2006/main">
              <a:ext uri="{FF2B5EF4-FFF2-40B4-BE49-F238E27FC236}">
                <a16:creationId xmlns:a16="http://schemas.microsoft.com/office/drawing/2014/main" id="{DCEEFEF2-F660-4BCB-9D52-970E0D4D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24025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A1F4"/>
            </a:solidFill>
            <a:prstDash val="solid"/>
          </a:ln>
        </p:spPr>
      </p:sp>
      <p:sp>
        <p:nvSpPr>
          <p:cNvPr id="23" name="roadmap-halo-4">
            <a:extLst xmlns:a="http://schemas.openxmlformats.org/drawingml/2006/main">
              <a:ext uri="{FF2B5EF4-FFF2-40B4-BE49-F238E27FC236}">
                <a16:creationId xmlns:a16="http://schemas.microsoft.com/office/drawing/2014/main" id="{ECFC9F7A-6234-4FE7-A225-86EE01C6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4" name="roadmap-node-4">
            <a:extLst xmlns:a="http://schemas.openxmlformats.org/drawingml/2006/main">
              <a:ext uri="{FF2B5EF4-FFF2-40B4-BE49-F238E27FC236}">
                <a16:creationId xmlns:a16="http://schemas.microsoft.com/office/drawing/2014/main" id="{B3801809-27F4-4AFD-94BC-B5CC3C8A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96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EF0"/>
          </a:solidFill>
          <a:ln xmlns:a="http://schemas.openxmlformats.org/drawingml/2006/main" w="0">
            <a:solidFill>
              <a:srgbClr val="364EF0"/>
            </a:solidFill>
            <a:prstDash val="solid"/>
          </a:ln>
        </p:spPr>
      </p:sp>
      <p:sp>
        <p:nvSpPr>
          <p:cNvPr id="25" name="roadmap-date-4">
            <a:extLst xmlns:a="http://schemas.openxmlformats.org/drawingml/2006/main">
              <a:ext uri="{FF2B5EF4-FFF2-40B4-BE49-F238E27FC236}">
                <a16:creationId xmlns:a16="http://schemas.microsoft.com/office/drawing/2014/main" id="{8928A9B2-79E8-444B-8639-7113F5C6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2415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63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M4</a:t>
            </a:r>
          </a:p>
        </p:txBody>
      </p:sp>
      <p:sp>
        <p:nvSpPr>
          <p:cNvPr id="26" name="roadmap-heading-4">
            <a:extLst xmlns:a="http://schemas.openxmlformats.org/drawingml/2006/main">
              <a:ext uri="{FF2B5EF4-FFF2-40B4-BE49-F238E27FC236}">
                <a16:creationId xmlns:a16="http://schemas.microsoft.com/office/drawing/2014/main" id="{8236A545-92E2-465F-A2A1-1B59E2F2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335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Pilot 2</a:t>
            </a:r>
          </a:p>
        </p:txBody>
      </p:sp>
      <p:sp>
        <p:nvSpPr>
          <p:cNvPr id="27" name="roadmap-body-4">
            <a:extLst xmlns:a="http://schemas.openxmlformats.org/drawingml/2006/main">
              <a:ext uri="{FF2B5EF4-FFF2-40B4-BE49-F238E27FC236}">
                <a16:creationId xmlns:a16="http://schemas.microsoft.com/office/drawing/2014/main" id="{248745FC-5B9B-49B4-A5B0-4313093B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62150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rPr>
              <a:t>콘텐츠 확장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rPr>
              <a:t>재방문 개선</a:t>
            </a:r>
          </a:p>
        </p:txBody>
      </p:sp>
      <p:sp>
        <p:nvSpPr>
          <p:cNvPr id="28" name="roadmap-stem-5">
            <a:extLst xmlns:a="http://schemas.openxmlformats.org/drawingml/2006/main">
              <a:ext uri="{FF2B5EF4-FFF2-40B4-BE49-F238E27FC236}">
                <a16:creationId xmlns:a16="http://schemas.microsoft.com/office/drawing/2014/main" id="{325176C6-EB8A-4262-B7D1-6A11CF61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009900"/>
            <a:ext cx="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A1F4"/>
            </a:solidFill>
            <a:prstDash val="solid"/>
          </a:ln>
        </p:spPr>
      </p:sp>
      <p:sp>
        <p:nvSpPr>
          <p:cNvPr id="29" name="roadmap-halo-5">
            <a:extLst xmlns:a="http://schemas.openxmlformats.org/drawingml/2006/main">
              <a:ext uri="{FF2B5EF4-FFF2-40B4-BE49-F238E27FC236}">
                <a16:creationId xmlns:a16="http://schemas.microsoft.com/office/drawing/2014/main" id="{44E12949-5835-47B4-9211-6F5A27A2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895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30" name="roadmap-node-5">
            <a:extLst xmlns:a="http://schemas.openxmlformats.org/drawingml/2006/main">
              <a:ext uri="{FF2B5EF4-FFF2-40B4-BE49-F238E27FC236}">
                <a16:creationId xmlns:a16="http://schemas.microsoft.com/office/drawing/2014/main" id="{B11BC72F-3E07-445B-A774-625336B9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6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EF0"/>
          </a:solidFill>
          <a:ln xmlns:a="http://schemas.openxmlformats.org/drawingml/2006/main" w="0">
            <a:solidFill>
              <a:srgbClr val="364EF0"/>
            </a:solidFill>
            <a:prstDash val="solid"/>
          </a:ln>
        </p:spPr>
      </p:sp>
      <p:sp>
        <p:nvSpPr>
          <p:cNvPr id="31" name="roadmap-date-5">
            <a:extLst xmlns:a="http://schemas.openxmlformats.org/drawingml/2006/main">
              <a:ext uri="{FF2B5EF4-FFF2-40B4-BE49-F238E27FC236}">
                <a16:creationId xmlns:a16="http://schemas.microsoft.com/office/drawing/2014/main" id="{4BE0C8C2-FD13-40DA-AAF6-D2538204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24150"/>
            <a:ext cx="590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563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M5</a:t>
            </a:r>
          </a:p>
        </p:txBody>
      </p:sp>
      <p:sp>
        <p:nvSpPr>
          <p:cNvPr id="32" name="roadmap-heading-5">
            <a:extLst xmlns:a="http://schemas.openxmlformats.org/drawingml/2006/main">
              <a:ext uri="{FF2B5EF4-FFF2-40B4-BE49-F238E27FC236}">
                <a16:creationId xmlns:a16="http://schemas.microsoft.com/office/drawing/2014/main" id="{A3C4627D-4A49-41B8-92B7-195EAE0F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5528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Feature pack</a:t>
            </a:r>
          </a:p>
        </p:txBody>
      </p:sp>
      <p:sp>
        <p:nvSpPr>
          <p:cNvPr id="33" name="roadmap-body-5">
            <a:extLst xmlns:a="http://schemas.openxmlformats.org/drawingml/2006/main">
              <a:ext uri="{FF2B5EF4-FFF2-40B4-BE49-F238E27FC236}">
                <a16:creationId xmlns:a16="http://schemas.microsoft.com/office/drawing/2014/main" id="{A1289FD5-C06F-4E3B-8DBB-028A6E75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81425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rPr>
              <a:t>신규 기능 추가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rPr>
              <a:t>품질 고도화</a:t>
            </a:r>
          </a:p>
        </p:txBody>
      </p:sp>
      <p:sp>
        <p:nvSpPr>
          <p:cNvPr id="34" name="roadmap-stem-6">
            <a:extLst xmlns:a="http://schemas.openxmlformats.org/drawingml/2006/main">
              <a:ext uri="{FF2B5EF4-FFF2-40B4-BE49-F238E27FC236}">
                <a16:creationId xmlns:a16="http://schemas.microsoft.com/office/drawing/2014/main" id="{02A80A36-1BBD-4644-BD92-BF81EA88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24025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A1F4"/>
            </a:solidFill>
            <a:prstDash val="solid"/>
          </a:ln>
        </p:spPr>
      </p:sp>
      <p:sp>
        <p:nvSpPr>
          <p:cNvPr id="35" name="roadmap-halo-6">
            <a:extLst xmlns:a="http://schemas.openxmlformats.org/drawingml/2006/main">
              <a:ext uri="{FF2B5EF4-FFF2-40B4-BE49-F238E27FC236}">
                <a16:creationId xmlns:a16="http://schemas.microsoft.com/office/drawing/2014/main" id="{C58DB77D-A93A-45E5-96C9-DD04EF67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95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36" name="roadmap-node-6">
            <a:extLst xmlns:a="http://schemas.openxmlformats.org/drawingml/2006/main">
              <a:ext uri="{FF2B5EF4-FFF2-40B4-BE49-F238E27FC236}">
                <a16:creationId xmlns:a16="http://schemas.microsoft.com/office/drawing/2014/main" id="{6115209D-55F4-496E-BDD9-7E51FFC5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96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EF0"/>
          </a:solidFill>
          <a:ln xmlns:a="http://schemas.openxmlformats.org/drawingml/2006/main" w="0">
            <a:solidFill>
              <a:srgbClr val="364EF0"/>
            </a:solidFill>
            <a:prstDash val="solid"/>
          </a:ln>
        </p:spPr>
      </p:sp>
      <p:sp>
        <p:nvSpPr>
          <p:cNvPr id="37" name="roadmap-date-6">
            <a:extLst xmlns:a="http://schemas.openxmlformats.org/drawingml/2006/main">
              <a:ext uri="{FF2B5EF4-FFF2-40B4-BE49-F238E27FC236}">
                <a16:creationId xmlns:a16="http://schemas.microsoft.com/office/drawing/2014/main" id="{97FB8FD0-DBBC-4AAB-A68C-472CF1B3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2415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63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M6</a:t>
            </a:r>
          </a:p>
        </p:txBody>
      </p:sp>
      <p:sp>
        <p:nvSpPr>
          <p:cNvPr id="38" name="roadmap-heading-6">
            <a:extLst xmlns:a="http://schemas.openxmlformats.org/drawingml/2006/main">
              <a:ext uri="{FF2B5EF4-FFF2-40B4-BE49-F238E27FC236}">
                <a16:creationId xmlns:a16="http://schemas.microsoft.com/office/drawing/2014/main" id="{F554C113-947D-4AB4-AC90-B9A89EB4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335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Pilot 3</a:t>
            </a:r>
          </a:p>
        </p:txBody>
      </p:sp>
      <p:sp>
        <p:nvSpPr>
          <p:cNvPr id="39" name="roadmap-body-6">
            <a:extLst xmlns:a="http://schemas.openxmlformats.org/drawingml/2006/main">
              <a:ext uri="{FF2B5EF4-FFF2-40B4-BE49-F238E27FC236}">
                <a16:creationId xmlns:a16="http://schemas.microsoft.com/office/drawing/2014/main" id="{D7E2BA3F-E70F-4F8C-9723-3CE042C8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62150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rPr>
              <a:t>고객군 확대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rPr>
              <a:t>성과 측정</a:t>
            </a:r>
          </a:p>
        </p:txBody>
      </p:sp>
      <p:sp>
        <p:nvSpPr>
          <p:cNvPr id="40" name="roadmap-stem-7">
            <a:extLst xmlns:a="http://schemas.openxmlformats.org/drawingml/2006/main">
              <a:ext uri="{FF2B5EF4-FFF2-40B4-BE49-F238E27FC236}">
                <a16:creationId xmlns:a16="http://schemas.microsoft.com/office/drawing/2014/main" id="{1C74263D-4A8C-4520-A6AE-C1B11D25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009900"/>
            <a:ext cx="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A1F4"/>
            </a:solidFill>
            <a:prstDash val="solid"/>
          </a:ln>
        </p:spPr>
      </p:sp>
      <p:sp>
        <p:nvSpPr>
          <p:cNvPr id="41" name="roadmap-halo-7">
            <a:extLst xmlns:a="http://schemas.openxmlformats.org/drawingml/2006/main">
              <a:ext uri="{FF2B5EF4-FFF2-40B4-BE49-F238E27FC236}">
                <a16:creationId xmlns:a16="http://schemas.microsoft.com/office/drawing/2014/main" id="{442AEE67-6AAC-494B-A698-54CE9E91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95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2" name="roadmap-node-7">
            <a:extLst xmlns:a="http://schemas.openxmlformats.org/drawingml/2006/main">
              <a:ext uri="{FF2B5EF4-FFF2-40B4-BE49-F238E27FC236}">
                <a16:creationId xmlns:a16="http://schemas.microsoft.com/office/drawing/2014/main" id="{C098774B-B95C-4139-A5AA-E2D9660F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6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EF0"/>
          </a:solidFill>
          <a:ln xmlns:a="http://schemas.openxmlformats.org/drawingml/2006/main" w="0">
            <a:solidFill>
              <a:srgbClr val="364EF0"/>
            </a:solidFill>
            <a:prstDash val="solid"/>
          </a:ln>
        </p:spPr>
      </p:sp>
      <p:sp>
        <p:nvSpPr>
          <p:cNvPr id="43" name="roadmap-date-7">
            <a:extLst xmlns:a="http://schemas.openxmlformats.org/drawingml/2006/main">
              <a:ext uri="{FF2B5EF4-FFF2-40B4-BE49-F238E27FC236}">
                <a16:creationId xmlns:a16="http://schemas.microsoft.com/office/drawing/2014/main" id="{96BE6860-CDCB-4EE7-AD37-C18769D2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24150"/>
            <a:ext cx="590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563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M7</a:t>
            </a:r>
          </a:p>
        </p:txBody>
      </p:sp>
      <p:sp>
        <p:nvSpPr>
          <p:cNvPr id="44" name="roadmap-heading-7">
            <a:extLst xmlns:a="http://schemas.openxmlformats.org/drawingml/2006/main">
              <a:ext uri="{FF2B5EF4-FFF2-40B4-BE49-F238E27FC236}">
                <a16:creationId xmlns:a16="http://schemas.microsoft.com/office/drawing/2014/main" id="{BA09AA71-0684-4FEC-9B85-85251D25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5528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Paid tier</a:t>
            </a:r>
          </a:p>
        </p:txBody>
      </p:sp>
      <p:sp>
        <p:nvSpPr>
          <p:cNvPr id="45" name="roadmap-body-7">
            <a:extLst xmlns:a="http://schemas.openxmlformats.org/drawingml/2006/main">
              <a:ext uri="{FF2B5EF4-FFF2-40B4-BE49-F238E27FC236}">
                <a16:creationId xmlns:a16="http://schemas.microsoft.com/office/drawing/2014/main" id="{A82E1D05-0B04-48A6-B460-A527644A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81425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rPr>
              <a:t>유료 기능 출시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rPr>
              <a:t>전환 검증</a:t>
            </a:r>
          </a:p>
        </p:txBody>
      </p:sp>
      <p:sp>
        <p:nvSpPr>
          <p:cNvPr id="46" name="roadmap-stem-8">
            <a:extLst xmlns:a="http://schemas.openxmlformats.org/drawingml/2006/main">
              <a:ext uri="{FF2B5EF4-FFF2-40B4-BE49-F238E27FC236}">
                <a16:creationId xmlns:a16="http://schemas.microsoft.com/office/drawing/2014/main" id="{18C782EB-9956-4A6F-8540-B2189A7E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24025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A1F4"/>
            </a:solidFill>
            <a:prstDash val="solid"/>
          </a:ln>
        </p:spPr>
      </p:sp>
      <p:sp>
        <p:nvSpPr>
          <p:cNvPr id="47" name="roadmap-halo-8">
            <a:extLst xmlns:a="http://schemas.openxmlformats.org/drawingml/2006/main">
              <a:ext uri="{FF2B5EF4-FFF2-40B4-BE49-F238E27FC236}">
                <a16:creationId xmlns:a16="http://schemas.microsoft.com/office/drawing/2014/main" id="{1195889D-0E5F-4E6F-9CA8-94C636F2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95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48" name="roadmap-node-8">
            <a:extLst xmlns:a="http://schemas.openxmlformats.org/drawingml/2006/main">
              <a:ext uri="{FF2B5EF4-FFF2-40B4-BE49-F238E27FC236}">
                <a16:creationId xmlns:a16="http://schemas.microsoft.com/office/drawing/2014/main" id="{CF3FC796-AF6D-4381-A7F6-A797F605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96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EF0"/>
          </a:solidFill>
          <a:ln xmlns:a="http://schemas.openxmlformats.org/drawingml/2006/main" w="0">
            <a:solidFill>
              <a:srgbClr val="364EF0"/>
            </a:solidFill>
            <a:prstDash val="solid"/>
          </a:ln>
        </p:spPr>
      </p:sp>
      <p:sp>
        <p:nvSpPr>
          <p:cNvPr id="49" name="roadmap-date-8">
            <a:extLst xmlns:a="http://schemas.openxmlformats.org/drawingml/2006/main">
              <a:ext uri="{FF2B5EF4-FFF2-40B4-BE49-F238E27FC236}">
                <a16:creationId xmlns:a16="http://schemas.microsoft.com/office/drawing/2014/main" id="{216A123C-E67E-4F53-A6E9-16461DA7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415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63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M8</a:t>
            </a:r>
          </a:p>
        </p:txBody>
      </p:sp>
      <p:sp>
        <p:nvSpPr>
          <p:cNvPr id="50" name="roadmap-heading-8">
            <a:extLst xmlns:a="http://schemas.openxmlformats.org/drawingml/2006/main">
              <a:ext uri="{FF2B5EF4-FFF2-40B4-BE49-F238E27FC236}">
                <a16:creationId xmlns:a16="http://schemas.microsoft.com/office/drawing/2014/main" id="{1CE86108-A012-44A1-B313-39F30D12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335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Pilot 4</a:t>
            </a:r>
          </a:p>
        </p:txBody>
      </p:sp>
      <p:sp>
        <p:nvSpPr>
          <p:cNvPr id="51" name="roadmap-body-8">
            <a:extLst xmlns:a="http://schemas.openxmlformats.org/drawingml/2006/main">
              <a:ext uri="{FF2B5EF4-FFF2-40B4-BE49-F238E27FC236}">
                <a16:creationId xmlns:a16="http://schemas.microsoft.com/office/drawing/2014/main" id="{555356A9-CAB1-481D-9A8B-3DFE7D9A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62150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rPr>
              <a:t>상품성 검증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rPr>
              <a:t>운영 안정화</a:t>
            </a:r>
          </a:p>
        </p:txBody>
      </p:sp>
      <p:sp>
        <p:nvSpPr>
          <p:cNvPr id="52" name="roadmap-stem-9">
            <a:extLst xmlns:a="http://schemas.openxmlformats.org/drawingml/2006/main">
              <a:ext uri="{FF2B5EF4-FFF2-40B4-BE49-F238E27FC236}">
                <a16:creationId xmlns:a16="http://schemas.microsoft.com/office/drawing/2014/main" id="{74B0ECBF-AF4E-4989-9279-8D06A87A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009900"/>
            <a:ext cx="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A1F4"/>
            </a:solidFill>
            <a:prstDash val="solid"/>
          </a:ln>
        </p:spPr>
      </p:sp>
      <p:sp>
        <p:nvSpPr>
          <p:cNvPr id="53" name="roadmap-halo-9">
            <a:extLst xmlns:a="http://schemas.openxmlformats.org/drawingml/2006/main">
              <a:ext uri="{FF2B5EF4-FFF2-40B4-BE49-F238E27FC236}">
                <a16:creationId xmlns:a16="http://schemas.microsoft.com/office/drawing/2014/main" id="{77DD4FB9-684B-4485-B18B-AC676484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95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54" name="roadmap-node-9">
            <a:extLst xmlns:a="http://schemas.openxmlformats.org/drawingml/2006/main">
              <a:ext uri="{FF2B5EF4-FFF2-40B4-BE49-F238E27FC236}">
                <a16:creationId xmlns:a16="http://schemas.microsoft.com/office/drawing/2014/main" id="{44A90D85-F5E0-4D8F-B446-ADF05899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6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4EF0"/>
          </a:solidFill>
          <a:ln xmlns:a="http://schemas.openxmlformats.org/drawingml/2006/main" w="0">
            <a:solidFill>
              <a:srgbClr val="364EF0"/>
            </a:solidFill>
            <a:prstDash val="solid"/>
          </a:ln>
        </p:spPr>
      </p:sp>
      <p:sp>
        <p:nvSpPr>
          <p:cNvPr id="55" name="roadmap-date-9">
            <a:extLst xmlns:a="http://schemas.openxmlformats.org/drawingml/2006/main">
              <a:ext uri="{FF2B5EF4-FFF2-40B4-BE49-F238E27FC236}">
                <a16:creationId xmlns:a16="http://schemas.microsoft.com/office/drawing/2014/main" id="{8D2352EB-E9A0-418E-9BBF-C16EF0C4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24150"/>
            <a:ext cx="590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563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M9</a:t>
            </a:r>
          </a:p>
        </p:txBody>
      </p:sp>
      <p:sp>
        <p:nvSpPr>
          <p:cNvPr id="56" name="roadmap-heading-9">
            <a:extLst xmlns:a="http://schemas.openxmlformats.org/drawingml/2006/main">
              <a:ext uri="{FF2B5EF4-FFF2-40B4-BE49-F238E27FC236}">
                <a16:creationId xmlns:a16="http://schemas.microsoft.com/office/drawing/2014/main" id="{81344CE3-31E9-4577-BAFF-299FDEE0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528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364EF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364EF0"/>
                </a:solidFill>
                <a:latin typeface="Avenir Next"/>
                <a:ea typeface="Avenir Next"/>
                <a:cs typeface="Avenir Next"/>
              </a:rPr>
              <a:t>Next scale</a:t>
            </a:r>
          </a:p>
        </p:txBody>
      </p:sp>
      <p:sp>
        <p:nvSpPr>
          <p:cNvPr id="57" name="roadmap-body-9">
            <a:extLst xmlns:a="http://schemas.openxmlformats.org/drawingml/2006/main">
              <a:ext uri="{FF2B5EF4-FFF2-40B4-BE49-F238E27FC236}">
                <a16:creationId xmlns:a16="http://schemas.microsoft.com/office/drawing/2014/main" id="{815365BD-1328-45E3-ADCA-0DA68F64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81425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rPr>
              <a:t>다음 시장 준비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63" b="0">
                <a:solidFill>
                  <a:srgbClr val="797B7D"/>
                </a:solidFill>
                <a:latin typeface="Apple SD Gothic Neo"/>
                <a:ea typeface="Apple SD Gothic Neo"/>
                <a:cs typeface="Apple SD Gothic Neo"/>
              </a:rPr>
              <a:t>확장 계획 수립</a:t>
            </a:r>
          </a:p>
        </p:txBody>
      </p:sp>
    </p:spTree>
    <p:extLst>
      <p:ext uri="{BB962C8B-B14F-4D97-AF65-F5344CB8AC3E}">
        <p14:creationId xmlns:p14="http://schemas.microsoft.com/office/powerpoint/2010/main" val="46977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2026-07-20T00:24:18.6340000Z</dcterms:created>
  <dcterms:modified xsi:type="dcterms:W3CDTF">2026-07-20T00:24:18.6340000Z</dcterms:modified>
</coreProperties>
</file>